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hospital sentence — a named buyer inside ten seconds, before any architecture. Then the chart, and be blunt about what it says: at half a billion parameters, splitting a model is theatre, and our own demo proves it by loading the whole thing on every node. The interesting line is the 16 GB one. Left of it, a room of ordinary laptops can hold a frontier-class model. Right of it, they cannot, and no amount of quantization fixes that — int4 of a 7B is still a 7B. That boundary is the entire product.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runs. Three containers, CPU only, no GPUs, and a real completion comes back. Say the prior art out loud before anyone asks: GPipe defined pipeline parallelism in 2019, Petals shipped it decentralized in 2022, and vLLM ships it today behind one flag. We did not invent the mechanism, and claiming we did is how you lose a technical judge in the first minute. What is different is that in all three of those, the shard boundary is a performance boundary. Here it is a trust boundary — and that changes what you build.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bets, and one of them is a negative result we kept on the slide. The wire: ninety-five times per hop, and the funny part is that four milliseconds of every hop was parsing X.509 certificates for a connection that never used TLS. The bytes: bf16 is free and we stop there, because we measured the crossover — below bf16 you only win under about two megabit. The queue is the one people miss: a single request cannot fill a pipeline, because token t+1 waits on token t. Only concurrency can, and three is the knee.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caveat is in the same size type as the numbers, on purpose. If I shrink it, you stop believing the table. Two-seventy-one-x is the number I would defend hardest — it is pure arithmetic on the model config, not a benchmark. Nine-hundred-thirty-five-x is the biggest number and the weakest claim, because it is bytes and on this LAN we are compute-bound; it wins on WAN, on one-gig ethernet, and at long context. Nineteen-x is modelled from stage times we measured on one laptop. We have not run v1 end to end. That is the honest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end on what this is not, because every line is a question you were going to ask. It is not cheaper than an API — a sixteen-node fleet burns five seventy-six a day in electricity to make a dollar seventy-three of tokens. It is not encryption; split inference raises the cost of recovering a prompt, it does not prevent it. And today every node still loads the whole checkpoint, which is forty lines from being false. What it is, is the only option when the weights do not fit the machine you are allowed to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475488"/>
            <a:ext cx="7315200" cy="274320"/>
          </a:xfrm>
          <a:prstGeom prst="rect">
            <a:avLst/>
          </a:prstGeom>
          <a:noFill/>
        </p:spPr>
        <p:txBody>
          <a:bodyPr wrap="square" lIns="0" rIns="0" tIns="0" bIns="0" anchor="t">
            <a:spAutoFit/>
          </a:bodyPr>
          <a:lstStyle/>
          <a:p>
            <a:pPr algn="l">
              <a:lnSpc>
                <a:spcPct val="115000"/>
              </a:lnSpc>
            </a:pPr>
            <a:r>
              <a:rPr sz="1050" b="0">
                <a:solidFill>
                  <a:srgbClr val="F0A83C"/>
                </a:solidFill>
                <a:latin typeface="Courier New"/>
              </a:rPr>
              <a:t>THE PROBLEM</a:t>
            </a:r>
          </a:p>
        </p:txBody>
      </p:sp>
      <p:sp>
        <p:nvSpPr>
          <p:cNvPr id="4" name="TextBox 3"/>
          <p:cNvSpPr txBox="1"/>
          <p:nvPr/>
        </p:nvSpPr>
        <p:spPr>
          <a:xfrm>
            <a:off x="685800" y="777240"/>
            <a:ext cx="10058400" cy="777240"/>
          </a:xfrm>
          <a:prstGeom prst="rect">
            <a:avLst/>
          </a:prstGeom>
          <a:noFill/>
        </p:spPr>
        <p:txBody>
          <a:bodyPr wrap="square" lIns="0" rIns="0" tIns="0" bIns="0" anchor="t">
            <a:spAutoFit/>
          </a:bodyPr>
          <a:lstStyle/>
          <a:p>
            <a:pPr algn="l">
              <a:lnSpc>
                <a:spcPct val="115000"/>
              </a:lnSpc>
            </a:pPr>
            <a:r>
              <a:rPr sz="3300" b="1">
                <a:solidFill>
                  <a:srgbClr val="E9EFF6"/>
                </a:solidFill>
                <a:latin typeface="Arial"/>
              </a:rPr>
              <a:t>Why split a model at all</a:t>
            </a:r>
          </a:p>
        </p:txBody>
      </p:sp>
      <p:cxnSp>
        <p:nvCxnSpPr>
          <p:cNvPr id="5" name="Connector 4"/>
          <p:cNvCxnSpPr/>
          <p:nvPr/>
        </p:nvCxnSpPr>
        <p:spPr>
          <a:xfrm>
            <a:off x="685800" y="1664208"/>
            <a:ext cx="10820095"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74375" y="475488"/>
            <a:ext cx="731520" cy="274320"/>
          </a:xfrm>
          <a:prstGeom prst="rect">
            <a:avLst/>
          </a:prstGeom>
          <a:noFill/>
        </p:spPr>
        <p:txBody>
          <a:bodyPr wrap="square" lIns="0" rIns="0" tIns="0" bIns="0" anchor="t">
            <a:spAutoFit/>
          </a:bodyPr>
          <a:lstStyle/>
          <a:p>
            <a:pPr algn="r">
              <a:lnSpc>
                <a:spcPct val="115000"/>
              </a:lnSpc>
            </a:pPr>
            <a:r>
              <a:rPr sz="1050" b="0">
                <a:solidFill>
                  <a:srgbClr val="5D7186"/>
                </a:solidFill>
                <a:latin typeface="Courier New"/>
              </a:rPr>
              <a:t>1 / 5</a:t>
            </a:r>
          </a:p>
        </p:txBody>
      </p:sp>
      <p:sp>
        <p:nvSpPr>
          <p:cNvPr id="7" name="Rectangle 6"/>
          <p:cNvSpPr/>
          <p:nvPr/>
        </p:nvSpPr>
        <p:spPr>
          <a:xfrm>
            <a:off x="685800" y="20436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1832" y="1938528"/>
            <a:ext cx="4407407" cy="548640"/>
          </a:xfrm>
          <a:prstGeom prst="rect">
            <a:avLst/>
          </a:prstGeom>
          <a:noFill/>
        </p:spPr>
        <p:txBody>
          <a:bodyPr wrap="square" lIns="0" rIns="0" tIns="0" bIns="0">
            <a:spAutoFit/>
          </a:bodyPr>
          <a:lstStyle/>
          <a:p>
            <a:pPr>
              <a:lnSpc>
                <a:spcPct val="120000"/>
              </a:lnSpc>
            </a:pPr>
            <a:r>
              <a:rPr sz="1350" b="1">
                <a:solidFill>
                  <a:srgbClr val="E9EFF6"/>
                </a:solidFill>
                <a:latin typeface="Arial"/>
              </a:rPr>
              <a:t>Five hospitals, one shared model;</a:t>
            </a:r>
            <a:r>
              <a:rPr sz="1350">
                <a:solidFill>
                  <a:srgbClr val="8AA0B5"/>
                </a:solidFill>
                <a:latin typeface="Arial"/>
              </a:rPr>
              <a:t> no member may hold it.</a:t>
            </a:r>
          </a:p>
        </p:txBody>
      </p:sp>
      <p:sp>
        <p:nvSpPr>
          <p:cNvPr id="9" name="Rectangle 8"/>
          <p:cNvSpPr/>
          <p:nvPr/>
        </p:nvSpPr>
        <p:spPr>
          <a:xfrm>
            <a:off x="685800" y="259232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1832" y="2487168"/>
            <a:ext cx="4407407" cy="548640"/>
          </a:xfrm>
          <a:prstGeom prst="rect">
            <a:avLst/>
          </a:prstGeom>
          <a:noFill/>
        </p:spPr>
        <p:txBody>
          <a:bodyPr wrap="square" lIns="0" rIns="0" tIns="0" bIns="0">
            <a:spAutoFit/>
          </a:bodyPr>
          <a:lstStyle/>
          <a:p>
            <a:pPr>
              <a:lnSpc>
                <a:spcPct val="120000"/>
              </a:lnSpc>
            </a:pPr>
            <a:r>
              <a:rPr sz="1350" b="1">
                <a:solidFill>
                  <a:srgbClr val="E9EFF6"/>
                </a:solidFill>
                <a:latin typeface="Arial"/>
              </a:rPr>
              <a:t>70B fp16 across 3 nodes:</a:t>
            </a:r>
            <a:r>
              <a:rPr sz="1350">
                <a:solidFill>
                  <a:srgbClr val="8AA0B5"/>
                </a:solidFill>
                <a:latin typeface="Arial"/>
              </a:rPr>
              <a:t> 47 GB per shard — fits nothing.</a:t>
            </a:r>
          </a:p>
        </p:txBody>
      </p:sp>
      <p:sp>
        <p:nvSpPr>
          <p:cNvPr id="11" name="Rectangle 10"/>
          <p:cNvSpPr/>
          <p:nvPr/>
        </p:nvSpPr>
        <p:spPr>
          <a:xfrm>
            <a:off x="685800" y="3140963"/>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1832" y="3035808"/>
            <a:ext cx="4407407" cy="548640"/>
          </a:xfrm>
          <a:prstGeom prst="rect">
            <a:avLst/>
          </a:prstGeom>
          <a:noFill/>
        </p:spPr>
        <p:txBody>
          <a:bodyPr wrap="square" lIns="0" rIns="0" tIns="0" bIns="0">
            <a:spAutoFit/>
          </a:bodyPr>
          <a:lstStyle/>
          <a:p>
            <a:pPr>
              <a:lnSpc>
                <a:spcPct val="120000"/>
              </a:lnSpc>
            </a:pPr>
            <a:r>
              <a:rPr sz="1350" b="1">
                <a:solidFill>
                  <a:srgbClr val="E9EFF6"/>
                </a:solidFill>
                <a:latin typeface="Arial"/>
              </a:rPr>
              <a:t>Across 16 nodes: 8.8 GB</a:t>
            </a:r>
            <a:r>
              <a:rPr sz="1350">
                <a:solidFill>
                  <a:srgbClr val="8AA0B5"/>
                </a:solidFill>
                <a:latin typeface="Arial"/>
              </a:rPr>
              <a:t> — fits an ordinary laptop.</a:t>
            </a:r>
          </a:p>
        </p:txBody>
      </p:sp>
      <p:sp>
        <p:nvSpPr>
          <p:cNvPr id="13" name="Rectangle 12"/>
          <p:cNvSpPr/>
          <p:nvPr/>
        </p:nvSpPr>
        <p:spPr>
          <a:xfrm>
            <a:off x="685800" y="368960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1832" y="3584448"/>
            <a:ext cx="4407407" cy="548640"/>
          </a:xfrm>
          <a:prstGeom prst="rect">
            <a:avLst/>
          </a:prstGeom>
          <a:noFill/>
        </p:spPr>
        <p:txBody>
          <a:bodyPr wrap="square" lIns="0" rIns="0" tIns="0" bIns="0">
            <a:spAutoFit/>
          </a:bodyPr>
          <a:lstStyle/>
          <a:p>
            <a:pPr>
              <a:lnSpc>
                <a:spcPct val="120000"/>
              </a:lnSpc>
            </a:pPr>
            <a:r>
              <a:rPr sz="1350" b="1">
                <a:solidFill>
                  <a:srgbClr val="E9EFF6"/>
                </a:solidFill>
                <a:latin typeface="Arial"/>
              </a:rPr>
              <a:t>Below ~13B this is theatre.</a:t>
            </a:r>
            <a:r>
              <a:rPr sz="1350">
                <a:solidFill>
                  <a:srgbClr val="8AA0B5"/>
                </a:solidFill>
                <a:latin typeface="Arial"/>
              </a:rPr>
              <a:t> The memory wall is the product.</a:t>
            </a:r>
          </a:p>
        </p:txBody>
      </p:sp>
      <p:sp>
        <p:nvSpPr>
          <p:cNvPr id="15" name="Rectangle 14"/>
          <p:cNvSpPr/>
          <p:nvPr/>
        </p:nvSpPr>
        <p:spPr>
          <a:xfrm>
            <a:off x="685800" y="423824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1832" y="4133087"/>
            <a:ext cx="4407407" cy="548640"/>
          </a:xfrm>
          <a:prstGeom prst="rect">
            <a:avLst/>
          </a:prstGeom>
          <a:noFill/>
        </p:spPr>
        <p:txBody>
          <a:bodyPr wrap="square" lIns="0" rIns="0" tIns="0" bIns="0">
            <a:spAutoFit/>
          </a:bodyPr>
          <a:lstStyle/>
          <a:p>
            <a:pPr>
              <a:lnSpc>
                <a:spcPct val="120000"/>
              </a:lnSpc>
            </a:pPr>
            <a:r>
              <a:rPr sz="1350" b="1">
                <a:solidFill>
                  <a:srgbClr val="E9EFF6"/>
                </a:solidFill>
                <a:latin typeface="Arial"/>
              </a:rPr>
              <a:t>Sovereign cloud IaaS, Europe:</a:t>
            </a:r>
            <a:r>
              <a:rPr sz="1350">
                <a:solidFill>
                  <a:srgbClr val="8AA0B5"/>
                </a:solidFill>
                <a:latin typeface="Arial"/>
              </a:rPr>
              <a:t> $12.6B in 2026, from $6.9B.</a:t>
            </a:r>
          </a:p>
        </p:txBody>
      </p:sp>
      <p:sp>
        <p:nvSpPr>
          <p:cNvPr id="17" name="TextBox 16"/>
          <p:cNvSpPr txBox="1"/>
          <p:nvPr/>
        </p:nvSpPr>
        <p:spPr>
          <a:xfrm>
            <a:off x="941832" y="4754880"/>
            <a:ext cx="438912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Gartner, 9 Feb 2026 (cited)</a:t>
            </a:r>
          </a:p>
        </p:txBody>
      </p:sp>
      <p:sp>
        <p:nvSpPr>
          <p:cNvPr id="18" name="TextBox 17"/>
          <p:cNvSpPr txBox="1"/>
          <p:nvPr/>
        </p:nvSpPr>
        <p:spPr>
          <a:xfrm>
            <a:off x="5897880" y="2103120"/>
            <a:ext cx="1691640" cy="274320"/>
          </a:xfrm>
          <a:prstGeom prst="rect">
            <a:avLst/>
          </a:prstGeom>
          <a:noFill/>
        </p:spPr>
        <p:txBody>
          <a:bodyPr wrap="square" lIns="0" rIns="0" tIns="0" bIns="0" anchor="t">
            <a:spAutoFit/>
          </a:bodyPr>
          <a:lstStyle/>
          <a:p>
            <a:pPr algn="l">
              <a:lnSpc>
                <a:spcPct val="115000"/>
              </a:lnSpc>
            </a:pPr>
            <a:r>
              <a:rPr sz="1000" b="0">
                <a:solidFill>
                  <a:srgbClr val="8AA0B5"/>
                </a:solidFill>
                <a:latin typeface="Courier New"/>
              </a:rPr>
              <a:t>70B fp16, N=3</a:t>
            </a:r>
          </a:p>
        </p:txBody>
      </p:sp>
      <p:sp>
        <p:nvSpPr>
          <p:cNvPr id="19" name="Rounded Rectangle 18"/>
          <p:cNvSpPr/>
          <p:nvPr/>
        </p:nvSpPr>
        <p:spPr>
          <a:xfrm>
            <a:off x="7680960" y="2121408"/>
            <a:ext cx="3094329" cy="274320"/>
          </a:xfrm>
          <a:prstGeom prst="roundRect">
            <a:avLst>
              <a:gd name="adj" fmla="val 15000"/>
            </a:avLst>
          </a:prstGeom>
          <a:solidFill>
            <a:srgbClr val="2A3542"/>
          </a:solidFill>
          <a:ln w="12700">
            <a:solidFill>
              <a:srgbClr val="5D71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10866729" y="2121408"/>
            <a:ext cx="109728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47.0 GB</a:t>
            </a:r>
          </a:p>
        </p:txBody>
      </p:sp>
      <p:sp>
        <p:nvSpPr>
          <p:cNvPr id="21" name="TextBox 20"/>
          <p:cNvSpPr txBox="1"/>
          <p:nvPr/>
        </p:nvSpPr>
        <p:spPr>
          <a:xfrm>
            <a:off x="5897880" y="2816352"/>
            <a:ext cx="1691640" cy="274320"/>
          </a:xfrm>
          <a:prstGeom prst="rect">
            <a:avLst/>
          </a:prstGeom>
          <a:noFill/>
        </p:spPr>
        <p:txBody>
          <a:bodyPr wrap="square" lIns="0" rIns="0" tIns="0" bIns="0" anchor="t">
            <a:spAutoFit/>
          </a:bodyPr>
          <a:lstStyle/>
          <a:p>
            <a:pPr algn="l">
              <a:lnSpc>
                <a:spcPct val="115000"/>
              </a:lnSpc>
            </a:pPr>
            <a:r>
              <a:rPr sz="1000" b="0">
                <a:solidFill>
                  <a:srgbClr val="8AA0B5"/>
                </a:solidFill>
                <a:latin typeface="Courier New"/>
              </a:rPr>
              <a:t>70B fp16, N=8</a:t>
            </a:r>
          </a:p>
        </p:txBody>
      </p:sp>
      <p:sp>
        <p:nvSpPr>
          <p:cNvPr id="22" name="Rounded Rectangle 21"/>
          <p:cNvSpPr/>
          <p:nvPr/>
        </p:nvSpPr>
        <p:spPr>
          <a:xfrm>
            <a:off x="7680960" y="2834640"/>
            <a:ext cx="1158727" cy="274320"/>
          </a:xfrm>
          <a:prstGeom prst="roundRect">
            <a:avLst>
              <a:gd name="adj" fmla="val 15000"/>
            </a:avLst>
          </a:prstGeom>
          <a:solidFill>
            <a:srgbClr val="2A3542"/>
          </a:solidFill>
          <a:ln w="12700">
            <a:solidFill>
              <a:srgbClr val="5D71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2"/>
          <p:cNvSpPr txBox="1"/>
          <p:nvPr/>
        </p:nvSpPr>
        <p:spPr>
          <a:xfrm>
            <a:off x="8931127" y="2834640"/>
            <a:ext cx="109728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17.6 GB</a:t>
            </a:r>
          </a:p>
        </p:txBody>
      </p:sp>
      <p:sp>
        <p:nvSpPr>
          <p:cNvPr id="24" name="TextBox 23"/>
          <p:cNvSpPr txBox="1"/>
          <p:nvPr/>
        </p:nvSpPr>
        <p:spPr>
          <a:xfrm>
            <a:off x="5897880" y="3529584"/>
            <a:ext cx="1691640" cy="274320"/>
          </a:xfrm>
          <a:prstGeom prst="rect">
            <a:avLst/>
          </a:prstGeom>
          <a:noFill/>
        </p:spPr>
        <p:txBody>
          <a:bodyPr wrap="square" lIns="0" rIns="0" tIns="0" bIns="0" anchor="t">
            <a:spAutoFit/>
          </a:bodyPr>
          <a:lstStyle/>
          <a:p>
            <a:pPr algn="l">
              <a:lnSpc>
                <a:spcPct val="115000"/>
              </a:lnSpc>
            </a:pPr>
            <a:r>
              <a:rPr sz="1000" b="0">
                <a:solidFill>
                  <a:srgbClr val="8AA0B5"/>
                </a:solidFill>
                <a:latin typeface="Courier New"/>
              </a:rPr>
              <a:t>70B int4, N=3</a:t>
            </a:r>
          </a:p>
        </p:txBody>
      </p:sp>
      <p:sp>
        <p:nvSpPr>
          <p:cNvPr id="25" name="Rounded Rectangle 24"/>
          <p:cNvSpPr/>
          <p:nvPr/>
        </p:nvSpPr>
        <p:spPr>
          <a:xfrm>
            <a:off x="7680960" y="3547872"/>
            <a:ext cx="776874" cy="274320"/>
          </a:xfrm>
          <a:prstGeom prst="roundRect">
            <a:avLst>
              <a:gd name="adj" fmla="val 15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8549274" y="3547872"/>
            <a:ext cx="1097280" cy="274320"/>
          </a:xfrm>
          <a:prstGeom prst="rect">
            <a:avLst/>
          </a:prstGeom>
          <a:noFill/>
        </p:spPr>
        <p:txBody>
          <a:bodyPr wrap="square" lIns="0" rIns="0" tIns="0" bIns="0" anchor="t">
            <a:spAutoFit/>
          </a:bodyPr>
          <a:lstStyle/>
          <a:p>
            <a:pPr algn="l">
              <a:lnSpc>
                <a:spcPct val="115000"/>
              </a:lnSpc>
            </a:pPr>
            <a:r>
              <a:rPr sz="1050" b="1">
                <a:solidFill>
                  <a:srgbClr val="4ADE80"/>
                </a:solidFill>
                <a:latin typeface="Courier New"/>
              </a:rPr>
              <a:t>11.8 GB</a:t>
            </a:r>
          </a:p>
        </p:txBody>
      </p:sp>
      <p:sp>
        <p:nvSpPr>
          <p:cNvPr id="27" name="TextBox 26"/>
          <p:cNvSpPr txBox="1"/>
          <p:nvPr/>
        </p:nvSpPr>
        <p:spPr>
          <a:xfrm>
            <a:off x="5897880" y="4242816"/>
            <a:ext cx="1691640" cy="274320"/>
          </a:xfrm>
          <a:prstGeom prst="rect">
            <a:avLst/>
          </a:prstGeom>
          <a:noFill/>
        </p:spPr>
        <p:txBody>
          <a:bodyPr wrap="square" lIns="0" rIns="0" tIns="0" bIns="0" anchor="t">
            <a:spAutoFit/>
          </a:bodyPr>
          <a:lstStyle/>
          <a:p>
            <a:pPr algn="l">
              <a:lnSpc>
                <a:spcPct val="115000"/>
              </a:lnSpc>
            </a:pPr>
            <a:r>
              <a:rPr sz="1000" b="0">
                <a:solidFill>
                  <a:srgbClr val="8AA0B5"/>
                </a:solidFill>
                <a:latin typeface="Courier New"/>
              </a:rPr>
              <a:t>70B fp16, N=16</a:t>
            </a:r>
          </a:p>
        </p:txBody>
      </p:sp>
      <p:sp>
        <p:nvSpPr>
          <p:cNvPr id="28" name="Rounded Rectangle 27"/>
          <p:cNvSpPr/>
          <p:nvPr/>
        </p:nvSpPr>
        <p:spPr>
          <a:xfrm>
            <a:off x="7680960" y="4261103"/>
            <a:ext cx="579363" cy="274320"/>
          </a:xfrm>
          <a:prstGeom prst="roundRect">
            <a:avLst>
              <a:gd name="adj" fmla="val 15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8351763" y="4261103"/>
            <a:ext cx="1097280" cy="274320"/>
          </a:xfrm>
          <a:prstGeom prst="rect">
            <a:avLst/>
          </a:prstGeom>
          <a:noFill/>
        </p:spPr>
        <p:txBody>
          <a:bodyPr wrap="square" lIns="0" rIns="0" tIns="0" bIns="0" anchor="t">
            <a:spAutoFit/>
          </a:bodyPr>
          <a:lstStyle/>
          <a:p>
            <a:pPr algn="l">
              <a:lnSpc>
                <a:spcPct val="115000"/>
              </a:lnSpc>
            </a:pPr>
            <a:r>
              <a:rPr sz="1050" b="1">
                <a:solidFill>
                  <a:srgbClr val="4ADE80"/>
                </a:solidFill>
                <a:latin typeface="Courier New"/>
              </a:rPr>
              <a:t>8.8 GB</a:t>
            </a:r>
          </a:p>
        </p:txBody>
      </p:sp>
      <p:cxnSp>
        <p:nvCxnSpPr>
          <p:cNvPr id="30" name="Connector 29"/>
          <p:cNvCxnSpPr/>
          <p:nvPr/>
        </p:nvCxnSpPr>
        <p:spPr>
          <a:xfrm>
            <a:off x="8734348" y="1901951"/>
            <a:ext cx="0" cy="2962657"/>
          </a:xfrm>
          <a:prstGeom prst="line">
            <a:avLst/>
          </a:prstGeom>
          <a:ln w="12700">
            <a:solidFill>
              <a:srgbClr val="F0A83C"/>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31428" y="1627631"/>
            <a:ext cx="1463040" cy="274320"/>
          </a:xfrm>
          <a:prstGeom prst="rect">
            <a:avLst/>
          </a:prstGeom>
          <a:noFill/>
        </p:spPr>
        <p:txBody>
          <a:bodyPr wrap="square" lIns="0" rIns="0" tIns="0" bIns="0" anchor="t">
            <a:spAutoFit/>
          </a:bodyPr>
          <a:lstStyle/>
          <a:p>
            <a:pPr algn="ctr">
              <a:lnSpc>
                <a:spcPct val="115000"/>
              </a:lnSpc>
            </a:pPr>
            <a:r>
              <a:rPr sz="850" b="0">
                <a:solidFill>
                  <a:srgbClr val="F0A83C"/>
                </a:solidFill>
                <a:latin typeface="Courier New"/>
              </a:rPr>
              <a:t>16 GB laptop</a:t>
            </a:r>
          </a:p>
        </p:txBody>
      </p:sp>
      <p:cxnSp>
        <p:nvCxnSpPr>
          <p:cNvPr id="32" name="Connector 31"/>
          <p:cNvCxnSpPr/>
          <p:nvPr/>
        </p:nvCxnSpPr>
        <p:spPr>
          <a:xfrm>
            <a:off x="9261043" y="1901951"/>
            <a:ext cx="0" cy="2962657"/>
          </a:xfrm>
          <a:prstGeom prst="line">
            <a:avLst/>
          </a:prstGeom>
          <a:ln w="12700">
            <a:solidFill>
              <a:srgbClr val="F0A83C"/>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58123" y="1627631"/>
            <a:ext cx="1463040" cy="274320"/>
          </a:xfrm>
          <a:prstGeom prst="rect">
            <a:avLst/>
          </a:prstGeom>
          <a:noFill/>
        </p:spPr>
        <p:txBody>
          <a:bodyPr wrap="square" lIns="0" rIns="0" tIns="0" bIns="0" anchor="t">
            <a:spAutoFit/>
          </a:bodyPr>
          <a:lstStyle/>
          <a:p>
            <a:pPr algn="ctr">
              <a:lnSpc>
                <a:spcPct val="115000"/>
              </a:lnSpc>
            </a:pPr>
            <a:r>
              <a:rPr sz="850" b="0">
                <a:solidFill>
                  <a:srgbClr val="F0A83C"/>
                </a:solidFill>
                <a:latin typeface="Courier New"/>
              </a:rPr>
              <a:t>24 GB 4090</a:t>
            </a:r>
          </a:p>
        </p:txBody>
      </p:sp>
      <p:sp>
        <p:nvSpPr>
          <p:cNvPr id="34" name="TextBox 33"/>
          <p:cNvSpPr txBox="1"/>
          <p:nvPr/>
        </p:nvSpPr>
        <p:spPr>
          <a:xfrm>
            <a:off x="9052560" y="1627631"/>
            <a:ext cx="1920240" cy="274320"/>
          </a:xfrm>
          <a:prstGeom prst="rect">
            <a:avLst/>
          </a:prstGeom>
          <a:noFill/>
        </p:spPr>
        <p:txBody>
          <a:bodyPr wrap="square" lIns="0" rIns="0" tIns="0" bIns="0" anchor="t">
            <a:spAutoFit/>
          </a:bodyPr>
          <a:lstStyle/>
          <a:p>
            <a:pPr algn="r">
              <a:lnSpc>
                <a:spcPct val="115000"/>
              </a:lnSpc>
            </a:pPr>
            <a:r>
              <a:rPr sz="850" b="0">
                <a:solidFill>
                  <a:srgbClr val="5D7186"/>
                </a:solidFill>
                <a:latin typeface="Courier New"/>
              </a:rPr>
              <a:t>80 GB H100 — off scale →</a:t>
            </a:r>
          </a:p>
        </p:txBody>
      </p:sp>
      <p:sp>
        <p:nvSpPr>
          <p:cNvPr id="35" name="TextBox 34"/>
          <p:cNvSpPr txBox="1"/>
          <p:nvPr/>
        </p:nvSpPr>
        <p:spPr>
          <a:xfrm>
            <a:off x="5897880" y="5120640"/>
            <a:ext cx="507492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derived from Llama-3.3-70B config shapes — 70.552B params</a:t>
            </a:r>
          </a:p>
        </p:txBody>
      </p:sp>
      <p:sp>
        <p:nvSpPr>
          <p:cNvPr id="36" name="TextBox 35"/>
          <p:cNvSpPr txBox="1"/>
          <p:nvPr/>
        </p:nvSpPr>
        <p:spPr>
          <a:xfrm>
            <a:off x="685800" y="6199632"/>
            <a:ext cx="10820095" cy="411480"/>
          </a:xfrm>
          <a:prstGeom prst="rect">
            <a:avLst/>
          </a:prstGeom>
          <a:noFill/>
        </p:spPr>
        <p:txBody>
          <a:bodyPr wrap="square" lIns="0" rIns="0" tIns="0" bIns="0" anchor="t">
            <a:spAutoFit/>
          </a:bodyPr>
          <a:lstStyle/>
          <a:p>
            <a:pPr algn="l">
              <a:lnSpc>
                <a:spcPct val="125000"/>
              </a:lnSpc>
            </a:pPr>
            <a:r>
              <a:rPr sz="900" b="0">
                <a:solidFill>
                  <a:srgbClr val="5D7186"/>
                </a:solidFill>
                <a:latin typeface="Courier New"/>
              </a:rPr>
              <a:t>Left of the 16 GB line, a room of ordinary laptops holds a frontier-class model. Right of it, they cannot — and quantization does not fix it: int4 of a 7B is still a 7B.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475488"/>
            <a:ext cx="7315200" cy="274320"/>
          </a:xfrm>
          <a:prstGeom prst="rect">
            <a:avLst/>
          </a:prstGeom>
          <a:noFill/>
        </p:spPr>
        <p:txBody>
          <a:bodyPr wrap="square" lIns="0" rIns="0" tIns="0" bIns="0" anchor="t">
            <a:spAutoFit/>
          </a:bodyPr>
          <a:lstStyle/>
          <a:p>
            <a:pPr algn="l">
              <a:lnSpc>
                <a:spcPct val="115000"/>
              </a:lnSpc>
            </a:pPr>
            <a:r>
              <a:rPr sz="1050" b="0">
                <a:solidFill>
                  <a:srgbClr val="F0A83C"/>
                </a:solidFill>
                <a:latin typeface="Courier New"/>
              </a:rPr>
              <a:t>WHAT RUNS TODAY</a:t>
            </a:r>
          </a:p>
        </p:txBody>
      </p:sp>
      <p:sp>
        <p:nvSpPr>
          <p:cNvPr id="4" name="TextBox 3"/>
          <p:cNvSpPr txBox="1"/>
          <p:nvPr/>
        </p:nvSpPr>
        <p:spPr>
          <a:xfrm>
            <a:off x="685800" y="777240"/>
            <a:ext cx="10058400" cy="777240"/>
          </a:xfrm>
          <a:prstGeom prst="rect">
            <a:avLst/>
          </a:prstGeom>
          <a:noFill/>
        </p:spPr>
        <p:txBody>
          <a:bodyPr wrap="square" lIns="0" rIns="0" tIns="0" bIns="0" anchor="t">
            <a:spAutoFit/>
          </a:bodyPr>
          <a:lstStyle/>
          <a:p>
            <a:pPr algn="l">
              <a:lnSpc>
                <a:spcPct val="115000"/>
              </a:lnSpc>
            </a:pPr>
            <a:r>
              <a:rPr sz="3300" b="1">
                <a:solidFill>
                  <a:srgbClr val="E9EFF6"/>
                </a:solidFill>
                <a:latin typeface="Arial"/>
              </a:rPr>
              <a:t>One token, three hops, today</a:t>
            </a:r>
          </a:p>
        </p:txBody>
      </p:sp>
      <p:cxnSp>
        <p:nvCxnSpPr>
          <p:cNvPr id="5" name="Connector 4"/>
          <p:cNvCxnSpPr/>
          <p:nvPr/>
        </p:nvCxnSpPr>
        <p:spPr>
          <a:xfrm>
            <a:off x="685800" y="1664208"/>
            <a:ext cx="10820095"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74375" y="475488"/>
            <a:ext cx="731520" cy="274320"/>
          </a:xfrm>
          <a:prstGeom prst="rect">
            <a:avLst/>
          </a:prstGeom>
          <a:noFill/>
        </p:spPr>
        <p:txBody>
          <a:bodyPr wrap="square" lIns="0" rIns="0" tIns="0" bIns="0" anchor="t">
            <a:spAutoFit/>
          </a:bodyPr>
          <a:lstStyle/>
          <a:p>
            <a:pPr algn="r">
              <a:lnSpc>
                <a:spcPct val="115000"/>
              </a:lnSpc>
            </a:pPr>
            <a:r>
              <a:rPr sz="1050" b="0">
                <a:solidFill>
                  <a:srgbClr val="5D7186"/>
                </a:solidFill>
                <a:latin typeface="Courier New"/>
              </a:rPr>
              <a:t>2 / 5</a:t>
            </a:r>
          </a:p>
        </p:txBody>
      </p:sp>
      <p:sp>
        <p:nvSpPr>
          <p:cNvPr id="7" name="Rectangle 6"/>
          <p:cNvSpPr/>
          <p:nvPr/>
        </p:nvSpPr>
        <p:spPr>
          <a:xfrm>
            <a:off x="685800" y="20436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1832" y="1938528"/>
            <a:ext cx="10533888" cy="457200"/>
          </a:xfrm>
          <a:prstGeom prst="rect">
            <a:avLst/>
          </a:prstGeom>
          <a:noFill/>
        </p:spPr>
        <p:txBody>
          <a:bodyPr wrap="square" lIns="0" rIns="0" tIns="0" bIns="0">
            <a:spAutoFit/>
          </a:bodyPr>
          <a:lstStyle/>
          <a:p>
            <a:pPr>
              <a:lnSpc>
                <a:spcPct val="120000"/>
              </a:lnSpc>
            </a:pPr>
            <a:r>
              <a:rPr sz="1400" b="1">
                <a:solidFill>
                  <a:srgbClr val="E9EFF6"/>
                </a:solidFill>
                <a:latin typeface="Arial"/>
              </a:rPr>
              <a:t>Qwen2.5-0.5B, 24 layers,</a:t>
            </a:r>
            <a:r>
              <a:rPr sz="1400">
                <a:solidFill>
                  <a:srgbClr val="8AA0B5"/>
                </a:solidFill>
                <a:latin typeface="Arial"/>
              </a:rPr>
              <a:t> split 8/8/8 across three containers.</a:t>
            </a:r>
          </a:p>
        </p:txBody>
      </p:sp>
      <p:sp>
        <p:nvSpPr>
          <p:cNvPr id="9" name="Rectangle 8"/>
          <p:cNvSpPr/>
          <p:nvPr/>
        </p:nvSpPr>
        <p:spPr>
          <a:xfrm>
            <a:off x="685800" y="25008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1832" y="2395728"/>
            <a:ext cx="10533888" cy="457200"/>
          </a:xfrm>
          <a:prstGeom prst="rect">
            <a:avLst/>
          </a:prstGeom>
          <a:noFill/>
        </p:spPr>
        <p:txBody>
          <a:bodyPr wrap="square" lIns="0" rIns="0" tIns="0" bIns="0">
            <a:spAutoFit/>
          </a:bodyPr>
          <a:lstStyle/>
          <a:p>
            <a:pPr>
              <a:lnSpc>
                <a:spcPct val="120000"/>
              </a:lnSpc>
            </a:pPr>
            <a:r>
              <a:rPr sz="1400" b="1">
                <a:solidFill>
                  <a:srgbClr val="E9EFF6"/>
                </a:solidFill>
                <a:latin typeface="Arial"/>
              </a:rPr>
              <a:t>FastAPI nodes, CPU-only, 2 vCPU;</a:t>
            </a:r>
            <a:r>
              <a:rPr sz="1400">
                <a:solidFill>
                  <a:srgbClr val="8AA0B5"/>
                </a:solidFill>
                <a:latin typeface="Arial"/>
              </a:rPr>
              <a:t> gateway, coordinator, Prom, Grafana.</a:t>
            </a:r>
          </a:p>
        </p:txBody>
      </p:sp>
      <p:sp>
        <p:nvSpPr>
          <p:cNvPr id="11" name="Rectangle 10"/>
          <p:cNvSpPr/>
          <p:nvPr/>
        </p:nvSpPr>
        <p:spPr>
          <a:xfrm>
            <a:off x="685800" y="29580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1832" y="2852928"/>
            <a:ext cx="10533888" cy="457200"/>
          </a:xfrm>
          <a:prstGeom prst="rect">
            <a:avLst/>
          </a:prstGeom>
          <a:noFill/>
        </p:spPr>
        <p:txBody>
          <a:bodyPr wrap="square" lIns="0" rIns="0" tIns="0" bIns="0">
            <a:spAutoFit/>
          </a:bodyPr>
          <a:lstStyle/>
          <a:p>
            <a:pPr>
              <a:lnSpc>
                <a:spcPct val="120000"/>
              </a:lnSpc>
            </a:pPr>
            <a:r>
              <a:rPr sz="1400" b="1">
                <a:solidFill>
                  <a:srgbClr val="E9EFF6"/>
                </a:solidFill>
                <a:latin typeface="Arial"/>
              </a:rPr>
              <a:t>Node2 owns lm_head,</a:t>
            </a:r>
            <a:r>
              <a:rPr sz="1400">
                <a:solidFill>
                  <a:srgbClr val="8AA0B5"/>
                </a:solidFill>
                <a:latin typeface="Arial"/>
              </a:rPr>
              <a:t> so node2 is where a token is born.</a:t>
            </a:r>
          </a:p>
        </p:txBody>
      </p:sp>
      <p:sp>
        <p:nvSpPr>
          <p:cNvPr id="13" name="Rectangle 12"/>
          <p:cNvSpPr/>
          <p:nvPr/>
        </p:nvSpPr>
        <p:spPr>
          <a:xfrm>
            <a:off x="685800" y="34152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1832" y="3310128"/>
            <a:ext cx="10533888" cy="457200"/>
          </a:xfrm>
          <a:prstGeom prst="rect">
            <a:avLst/>
          </a:prstGeom>
          <a:noFill/>
        </p:spPr>
        <p:txBody>
          <a:bodyPr wrap="square" lIns="0" rIns="0" tIns="0" bIns="0">
            <a:spAutoFit/>
          </a:bodyPr>
          <a:lstStyle/>
          <a:p>
            <a:pPr>
              <a:lnSpc>
                <a:spcPct val="120000"/>
              </a:lnSpc>
            </a:pPr>
            <a:r>
              <a:rPr sz="1400" b="1">
                <a:solidFill>
                  <a:srgbClr val="E9EFF6"/>
                </a:solidFill>
                <a:latin typeface="Arial"/>
              </a:rPr>
              <a:t>Pipeline parallelism is not ours:</a:t>
            </a:r>
            <a:r>
              <a:rPr sz="1400">
                <a:solidFill>
                  <a:srgbClr val="8AA0B5"/>
                </a:solidFill>
                <a:latin typeface="Arial"/>
              </a:rPr>
              <a:t> GPipe 2019, Petals 2022.</a:t>
            </a:r>
          </a:p>
        </p:txBody>
      </p:sp>
      <p:sp>
        <p:nvSpPr>
          <p:cNvPr id="15" name="Rectangle 14"/>
          <p:cNvSpPr/>
          <p:nvPr/>
        </p:nvSpPr>
        <p:spPr>
          <a:xfrm>
            <a:off x="685800" y="38724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1832" y="3767328"/>
            <a:ext cx="10533888" cy="457200"/>
          </a:xfrm>
          <a:prstGeom prst="rect">
            <a:avLst/>
          </a:prstGeom>
          <a:noFill/>
        </p:spPr>
        <p:txBody>
          <a:bodyPr wrap="square" lIns="0" rIns="0" tIns="0" bIns="0">
            <a:spAutoFit/>
          </a:bodyPr>
          <a:lstStyle/>
          <a:p>
            <a:pPr>
              <a:lnSpc>
                <a:spcPct val="120000"/>
              </a:lnSpc>
            </a:pPr>
            <a:r>
              <a:rPr sz="1400" b="1">
                <a:solidFill>
                  <a:srgbClr val="E9EFF6"/>
                </a:solidFill>
                <a:latin typeface="Arial"/>
              </a:rPr>
              <a:t>What is new:</a:t>
            </a:r>
            <a:r>
              <a:rPr sz="1400">
                <a:solidFill>
                  <a:srgbClr val="8AA0B5"/>
                </a:solidFill>
                <a:latin typeface="Arial"/>
              </a:rPr>
              <a:t> the shard boundary is a trust boundary.</a:t>
            </a:r>
          </a:p>
        </p:txBody>
      </p:sp>
      <p:sp>
        <p:nvSpPr>
          <p:cNvPr id="17" name="Rounded Rectangle 16"/>
          <p:cNvSpPr/>
          <p:nvPr/>
        </p:nvSpPr>
        <p:spPr>
          <a:xfrm>
            <a:off x="685800" y="4681727"/>
            <a:ext cx="1234440" cy="777240"/>
          </a:xfrm>
          <a:prstGeom prst="roundRect">
            <a:avLst>
              <a:gd name="adj" fmla="val 8000"/>
            </a:avLst>
          </a:prstGeom>
          <a:solidFill>
            <a:srgbClr val="141E2B"/>
          </a:solidFill>
          <a:ln w="12700">
            <a:solidFill>
              <a:srgbClr val="26323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795528" y="5029200"/>
            <a:ext cx="1014984" cy="274320"/>
          </a:xfrm>
          <a:prstGeom prst="rect">
            <a:avLst/>
          </a:prstGeom>
          <a:noFill/>
        </p:spPr>
        <p:txBody>
          <a:bodyPr wrap="square" lIns="0" rIns="0" tIns="0" bIns="0" anchor="t">
            <a:spAutoFit/>
          </a:bodyPr>
          <a:lstStyle/>
          <a:p>
            <a:pPr algn="ctr">
              <a:lnSpc>
                <a:spcPct val="115000"/>
              </a:lnSpc>
            </a:pPr>
            <a:r>
              <a:rPr sz="900" b="0">
                <a:solidFill>
                  <a:srgbClr val="5D7186"/>
                </a:solidFill>
                <a:latin typeface="Courier New"/>
              </a:rPr>
              <a:t>coordinator</a:t>
            </a:r>
          </a:p>
        </p:txBody>
      </p:sp>
      <p:sp>
        <p:nvSpPr>
          <p:cNvPr id="19" name="Rounded Rectangle 18"/>
          <p:cNvSpPr/>
          <p:nvPr/>
        </p:nvSpPr>
        <p:spPr>
          <a:xfrm>
            <a:off x="2395728" y="4590288"/>
            <a:ext cx="1874519" cy="960120"/>
          </a:xfrm>
          <a:prstGeom prst="roundRect">
            <a:avLst>
              <a:gd name="adj" fmla="val 8000"/>
            </a:avLst>
          </a:prstGeom>
          <a:solidFill>
            <a:srgbClr val="141E2B"/>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2542032" y="4736592"/>
            <a:ext cx="1581911" cy="274320"/>
          </a:xfrm>
          <a:prstGeom prst="rect">
            <a:avLst/>
          </a:prstGeom>
          <a:noFill/>
        </p:spPr>
        <p:txBody>
          <a:bodyPr wrap="square" lIns="0" rIns="0" tIns="0" bIns="0" anchor="t">
            <a:spAutoFit/>
          </a:bodyPr>
          <a:lstStyle/>
          <a:p>
            <a:pPr algn="l">
              <a:lnSpc>
                <a:spcPct val="115000"/>
              </a:lnSpc>
            </a:pPr>
            <a:r>
              <a:rPr sz="1150" b="1">
                <a:solidFill>
                  <a:srgbClr val="2DD4BF"/>
                </a:solidFill>
                <a:latin typeface="Courier New"/>
              </a:rPr>
              <a:t>node0</a:t>
            </a:r>
          </a:p>
        </p:txBody>
      </p:sp>
      <p:sp>
        <p:nvSpPr>
          <p:cNvPr id="21" name="TextBox 20"/>
          <p:cNvSpPr txBox="1"/>
          <p:nvPr/>
        </p:nvSpPr>
        <p:spPr>
          <a:xfrm>
            <a:off x="2542032" y="5065775"/>
            <a:ext cx="1581911" cy="411480"/>
          </a:xfrm>
          <a:prstGeom prst="rect">
            <a:avLst/>
          </a:prstGeom>
          <a:noFill/>
        </p:spPr>
        <p:txBody>
          <a:bodyPr wrap="square" lIns="0" rIns="0" tIns="0" bIns="0" anchor="t">
            <a:spAutoFit/>
          </a:bodyPr>
          <a:lstStyle/>
          <a:p>
            <a:pPr algn="l">
              <a:lnSpc>
                <a:spcPct val="115000"/>
              </a:lnSpc>
            </a:pPr>
            <a:r>
              <a:rPr sz="900" b="0">
                <a:solidFill>
                  <a:srgbClr val="8AA0B5"/>
                </a:solidFill>
                <a:latin typeface="Courier New"/>
              </a:rPr>
              <a:t>embed + L0–7
8.00 layer-eq</a:t>
            </a:r>
          </a:p>
        </p:txBody>
      </p:sp>
      <p:cxnSp>
        <p:nvCxnSpPr>
          <p:cNvPr id="22" name="Connector 21"/>
          <p:cNvCxnSpPr/>
          <p:nvPr/>
        </p:nvCxnSpPr>
        <p:spPr>
          <a:xfrm>
            <a:off x="1920240" y="5070348"/>
            <a:ext cx="475488" cy="0"/>
          </a:xfrm>
          <a:prstGeom prst="line">
            <a:avLst/>
          </a:prstGeom>
          <a:ln w="19050">
            <a:solidFill>
              <a:srgbClr val="26323E"/>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745736" y="4590288"/>
            <a:ext cx="1874519" cy="960120"/>
          </a:xfrm>
          <a:prstGeom prst="roundRect">
            <a:avLst>
              <a:gd name="adj" fmla="val 8000"/>
            </a:avLst>
          </a:prstGeom>
          <a:solidFill>
            <a:srgbClr val="141E2B"/>
          </a:solidFill>
          <a:ln w="12700">
            <a:solidFill>
              <a:srgbClr val="8F8FF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4892040" y="4736592"/>
            <a:ext cx="1581911" cy="274320"/>
          </a:xfrm>
          <a:prstGeom prst="rect">
            <a:avLst/>
          </a:prstGeom>
          <a:noFill/>
        </p:spPr>
        <p:txBody>
          <a:bodyPr wrap="square" lIns="0" rIns="0" tIns="0" bIns="0" anchor="t">
            <a:spAutoFit/>
          </a:bodyPr>
          <a:lstStyle/>
          <a:p>
            <a:pPr algn="l">
              <a:lnSpc>
                <a:spcPct val="115000"/>
              </a:lnSpc>
            </a:pPr>
            <a:r>
              <a:rPr sz="1150" b="1">
                <a:solidFill>
                  <a:srgbClr val="8F8FFB"/>
                </a:solidFill>
                <a:latin typeface="Courier New"/>
              </a:rPr>
              <a:t>node1</a:t>
            </a:r>
          </a:p>
        </p:txBody>
      </p:sp>
      <p:sp>
        <p:nvSpPr>
          <p:cNvPr id="25" name="TextBox 24"/>
          <p:cNvSpPr txBox="1"/>
          <p:nvPr/>
        </p:nvSpPr>
        <p:spPr>
          <a:xfrm>
            <a:off x="4892040" y="5065775"/>
            <a:ext cx="1581911" cy="411480"/>
          </a:xfrm>
          <a:prstGeom prst="rect">
            <a:avLst/>
          </a:prstGeom>
          <a:noFill/>
        </p:spPr>
        <p:txBody>
          <a:bodyPr wrap="square" lIns="0" rIns="0" tIns="0" bIns="0" anchor="t">
            <a:spAutoFit/>
          </a:bodyPr>
          <a:lstStyle/>
          <a:p>
            <a:pPr algn="l">
              <a:lnSpc>
                <a:spcPct val="115000"/>
              </a:lnSpc>
            </a:pPr>
            <a:r>
              <a:rPr sz="900" b="0">
                <a:solidFill>
                  <a:srgbClr val="8AA0B5"/>
                </a:solidFill>
                <a:latin typeface="Courier New"/>
              </a:rPr>
              <a:t>L8–15
8.00 layer-eq</a:t>
            </a:r>
          </a:p>
        </p:txBody>
      </p:sp>
      <p:cxnSp>
        <p:nvCxnSpPr>
          <p:cNvPr id="26" name="Connector 25"/>
          <p:cNvCxnSpPr/>
          <p:nvPr/>
        </p:nvCxnSpPr>
        <p:spPr>
          <a:xfrm>
            <a:off x="4270248" y="5070348"/>
            <a:ext cx="475488" cy="0"/>
          </a:xfrm>
          <a:prstGeom prst="line">
            <a:avLst/>
          </a:prstGeom>
          <a:ln w="19050">
            <a:solidFill>
              <a:srgbClr val="26323E"/>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095744" y="4590288"/>
            <a:ext cx="1874519" cy="960120"/>
          </a:xfrm>
          <a:prstGeom prst="roundRect">
            <a:avLst>
              <a:gd name="adj" fmla="val 8000"/>
            </a:avLst>
          </a:prstGeom>
          <a:solidFill>
            <a:srgbClr val="141E2B"/>
          </a:solidFill>
          <a:ln w="12700">
            <a:solidFill>
              <a:srgbClr val="F472A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7"/>
          <p:cNvSpPr txBox="1"/>
          <p:nvPr/>
        </p:nvSpPr>
        <p:spPr>
          <a:xfrm>
            <a:off x="7242048" y="4736592"/>
            <a:ext cx="1581911" cy="274320"/>
          </a:xfrm>
          <a:prstGeom prst="rect">
            <a:avLst/>
          </a:prstGeom>
          <a:noFill/>
        </p:spPr>
        <p:txBody>
          <a:bodyPr wrap="square" lIns="0" rIns="0" tIns="0" bIns="0" anchor="t">
            <a:spAutoFit/>
          </a:bodyPr>
          <a:lstStyle/>
          <a:p>
            <a:pPr algn="l">
              <a:lnSpc>
                <a:spcPct val="115000"/>
              </a:lnSpc>
            </a:pPr>
            <a:r>
              <a:rPr sz="1150" b="1">
                <a:solidFill>
                  <a:srgbClr val="F472A6"/>
                </a:solidFill>
                <a:latin typeface="Courier New"/>
              </a:rPr>
              <a:t>node2</a:t>
            </a:r>
          </a:p>
        </p:txBody>
      </p:sp>
      <p:sp>
        <p:nvSpPr>
          <p:cNvPr id="29" name="TextBox 28"/>
          <p:cNvSpPr txBox="1"/>
          <p:nvPr/>
        </p:nvSpPr>
        <p:spPr>
          <a:xfrm>
            <a:off x="7242048" y="5065775"/>
            <a:ext cx="1581911" cy="411480"/>
          </a:xfrm>
          <a:prstGeom prst="rect">
            <a:avLst/>
          </a:prstGeom>
          <a:noFill/>
        </p:spPr>
        <p:txBody>
          <a:bodyPr wrap="square" lIns="0" rIns="0" tIns="0" bIns="0" anchor="t">
            <a:spAutoFit/>
          </a:bodyPr>
          <a:lstStyle/>
          <a:p>
            <a:pPr algn="l">
              <a:lnSpc>
                <a:spcPct val="115000"/>
              </a:lnSpc>
            </a:pPr>
            <a:r>
              <a:rPr sz="900" b="0">
                <a:solidFill>
                  <a:srgbClr val="8AA0B5"/>
                </a:solidFill>
                <a:latin typeface="Courier New"/>
              </a:rPr>
              <a:t>L16–23 + norm + lm_head
17.13 layer-eq</a:t>
            </a:r>
          </a:p>
        </p:txBody>
      </p:sp>
      <p:cxnSp>
        <p:nvCxnSpPr>
          <p:cNvPr id="30" name="Connector 29"/>
          <p:cNvCxnSpPr/>
          <p:nvPr/>
        </p:nvCxnSpPr>
        <p:spPr>
          <a:xfrm>
            <a:off x="6620256" y="5070348"/>
            <a:ext cx="475488" cy="0"/>
          </a:xfrm>
          <a:prstGeom prst="line">
            <a:avLst/>
          </a:prstGeom>
          <a:ln w="19050">
            <a:solidFill>
              <a:srgbClr val="2632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970263" y="5070348"/>
            <a:ext cx="475488" cy="0"/>
          </a:xfrm>
          <a:prstGeom prst="line">
            <a:avLst/>
          </a:prstGeom>
          <a:ln w="19050">
            <a:solidFill>
              <a:srgbClr val="26323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45751" y="4942332"/>
            <a:ext cx="1005840" cy="274320"/>
          </a:xfrm>
          <a:prstGeom prst="rect">
            <a:avLst/>
          </a:prstGeom>
          <a:noFill/>
        </p:spPr>
        <p:txBody>
          <a:bodyPr wrap="square" lIns="0" rIns="0" tIns="0" bIns="0" anchor="t">
            <a:spAutoFit/>
          </a:bodyPr>
          <a:lstStyle/>
          <a:p>
            <a:pPr algn="l">
              <a:lnSpc>
                <a:spcPct val="115000"/>
              </a:lnSpc>
            </a:pPr>
            <a:r>
              <a:rPr sz="1000" b="0">
                <a:solidFill>
                  <a:srgbClr val="4ADE80"/>
                </a:solidFill>
                <a:latin typeface="Courier New"/>
              </a:rPr>
              <a:t>token</a:t>
            </a:r>
          </a:p>
        </p:txBody>
      </p:sp>
      <p:sp>
        <p:nvSpPr>
          <p:cNvPr id="33" name="Rounded Rectangle 32"/>
          <p:cNvSpPr/>
          <p:nvPr/>
        </p:nvSpPr>
        <p:spPr>
          <a:xfrm>
            <a:off x="4355835" y="4988052"/>
            <a:ext cx="310896" cy="164592"/>
          </a:xfrm>
          <a:prstGeom prst="roundRect">
            <a:avLst>
              <a:gd name="adj" fmla="val 3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3944355" y="4631436"/>
            <a:ext cx="1188720" cy="274320"/>
          </a:xfrm>
          <a:prstGeom prst="rect">
            <a:avLst/>
          </a:prstGeom>
          <a:noFill/>
        </p:spPr>
        <p:txBody>
          <a:bodyPr wrap="square" lIns="0" rIns="0" tIns="0" bIns="0" anchor="t">
            <a:spAutoFit/>
          </a:bodyPr>
          <a:lstStyle/>
          <a:p>
            <a:pPr algn="ctr">
              <a:lnSpc>
                <a:spcPct val="115000"/>
              </a:lnSpc>
            </a:pPr>
            <a:r>
              <a:rPr sz="900" b="0">
                <a:solidFill>
                  <a:srgbClr val="2DD4BF"/>
                </a:solidFill>
                <a:latin typeface="Courier New"/>
              </a:rPr>
              <a:t>[seq, 896] fp32 · base64 · JSON</a:t>
            </a:r>
          </a:p>
        </p:txBody>
      </p:sp>
      <p:sp>
        <p:nvSpPr>
          <p:cNvPr id="35" name="TextBox 34"/>
          <p:cNvSpPr txBox="1"/>
          <p:nvPr/>
        </p:nvSpPr>
        <p:spPr>
          <a:xfrm>
            <a:off x="685800" y="5806440"/>
            <a:ext cx="10789920" cy="274320"/>
          </a:xfrm>
          <a:prstGeom prst="rect">
            <a:avLst/>
          </a:prstGeom>
          <a:noFill/>
        </p:spPr>
        <p:txBody>
          <a:bodyPr wrap="square" lIns="0" rIns="0" tIns="0" bIns="0" anchor="t">
            <a:spAutoFit/>
          </a:bodyPr>
          <a:lstStyle/>
          <a:p>
            <a:pPr algn="l">
              <a:lnSpc>
                <a:spcPct val="115000"/>
              </a:lnSpc>
            </a:pPr>
            <a:r>
              <a:rPr sz="1000" b="0">
                <a:solidFill>
                  <a:srgbClr val="5D7186"/>
                </a:solidFill>
                <a:latin typeface="Courier New"/>
              </a:rPr>
              <a:t>client → gateway :8080 (api-key, circuit breaker) → coordinator :8081 → node0 → node1 → node2 → token</a:t>
            </a:r>
          </a:p>
        </p:txBody>
      </p:sp>
      <p:sp>
        <p:nvSpPr>
          <p:cNvPr id="36" name="Rounded Rectangle 35"/>
          <p:cNvSpPr/>
          <p:nvPr/>
        </p:nvSpPr>
        <p:spPr>
          <a:xfrm>
            <a:off x="8732520" y="4187952"/>
            <a:ext cx="2743200" cy="310896"/>
          </a:xfrm>
          <a:prstGeom prst="roundRect">
            <a:avLst>
              <a:gd name="adj" fmla="val 10000"/>
            </a:avLst>
          </a:prstGeom>
          <a:noFill/>
          <a:ln w="1270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8842248" y="4242816"/>
            <a:ext cx="2560320" cy="274320"/>
          </a:xfrm>
          <a:prstGeom prst="rect">
            <a:avLst/>
          </a:prstGeom>
          <a:noFill/>
        </p:spPr>
        <p:txBody>
          <a:bodyPr wrap="square" lIns="0" rIns="0" tIns="0" bIns="0" anchor="t">
            <a:spAutoFit/>
          </a:bodyPr>
          <a:lstStyle/>
          <a:p>
            <a:pPr algn="l">
              <a:lnSpc>
                <a:spcPct val="115000"/>
              </a:lnSpc>
            </a:pPr>
            <a:r>
              <a:rPr sz="950" b="1">
                <a:solidFill>
                  <a:srgbClr val="FB7185"/>
                </a:solidFill>
                <a:latin typeface="Courier New"/>
              </a:rPr>
              <a:t>lm_head = 9.13 layer-equivalents</a:t>
            </a:r>
          </a:p>
        </p:txBody>
      </p:sp>
      <p:sp>
        <p:nvSpPr>
          <p:cNvPr id="38" name="TextBox 37"/>
          <p:cNvSpPr txBox="1"/>
          <p:nvPr/>
        </p:nvSpPr>
        <p:spPr>
          <a:xfrm>
            <a:off x="685800" y="6199632"/>
            <a:ext cx="10820095" cy="411480"/>
          </a:xfrm>
          <a:prstGeom prst="rect">
            <a:avLst/>
          </a:prstGeom>
          <a:noFill/>
        </p:spPr>
        <p:txBody>
          <a:bodyPr wrap="square" lIns="0" rIns="0" tIns="0" bIns="0" anchor="t">
            <a:spAutoFit/>
          </a:bodyPr>
          <a:lstStyle/>
          <a:p>
            <a:pPr algn="l">
              <a:lnSpc>
                <a:spcPct val="125000"/>
              </a:lnSpc>
            </a:pPr>
            <a:r>
              <a:rPr sz="900" b="0">
                <a:solidFill>
                  <a:srgbClr val="5D7186"/>
                </a:solidFill>
                <a:latin typeface="Courier New"/>
              </a:rPr>
              <a:t>runs today — `docker compose up`.  The "equal" 8/8/8 split really runs 8/8/17: 1.539x off balance on layer-equivalents, 1.30x measured wall clock (90-AUDIT F11).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475488"/>
            <a:ext cx="7315200" cy="274320"/>
          </a:xfrm>
          <a:prstGeom prst="rect">
            <a:avLst/>
          </a:prstGeom>
          <a:noFill/>
        </p:spPr>
        <p:txBody>
          <a:bodyPr wrap="square" lIns="0" rIns="0" tIns="0" bIns="0" anchor="t">
            <a:spAutoFit/>
          </a:bodyPr>
          <a:lstStyle/>
          <a:p>
            <a:pPr algn="l">
              <a:lnSpc>
                <a:spcPct val="115000"/>
              </a:lnSpc>
            </a:pPr>
            <a:r>
              <a:rPr sz="1050" b="0">
                <a:solidFill>
                  <a:srgbClr val="F0A83C"/>
                </a:solidFill>
                <a:latin typeface="Courier New"/>
              </a:rPr>
              <a:t>THE ENGINEERING</a:t>
            </a:r>
          </a:p>
        </p:txBody>
      </p:sp>
      <p:sp>
        <p:nvSpPr>
          <p:cNvPr id="4" name="TextBox 3"/>
          <p:cNvSpPr txBox="1"/>
          <p:nvPr/>
        </p:nvSpPr>
        <p:spPr>
          <a:xfrm>
            <a:off x="685800" y="777240"/>
            <a:ext cx="10058400" cy="777240"/>
          </a:xfrm>
          <a:prstGeom prst="rect">
            <a:avLst/>
          </a:prstGeom>
          <a:noFill/>
        </p:spPr>
        <p:txBody>
          <a:bodyPr wrap="square" lIns="0" rIns="0" tIns="0" bIns="0" anchor="t">
            <a:spAutoFit/>
          </a:bodyPr>
          <a:lstStyle/>
          <a:p>
            <a:pPr algn="l">
              <a:lnSpc>
                <a:spcPct val="115000"/>
              </a:lnSpc>
            </a:pPr>
            <a:r>
              <a:rPr sz="3300" b="1">
                <a:solidFill>
                  <a:srgbClr val="E9EFF6"/>
                </a:solidFill>
                <a:latin typeface="Arial"/>
              </a:rPr>
              <a:t>Three bets: wire, bytes, queue</a:t>
            </a:r>
          </a:p>
        </p:txBody>
      </p:sp>
      <p:cxnSp>
        <p:nvCxnSpPr>
          <p:cNvPr id="5" name="Connector 4"/>
          <p:cNvCxnSpPr/>
          <p:nvPr/>
        </p:nvCxnSpPr>
        <p:spPr>
          <a:xfrm>
            <a:off x="685800" y="1664208"/>
            <a:ext cx="10820095"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74375" y="475488"/>
            <a:ext cx="731520" cy="274320"/>
          </a:xfrm>
          <a:prstGeom prst="rect">
            <a:avLst/>
          </a:prstGeom>
          <a:noFill/>
        </p:spPr>
        <p:txBody>
          <a:bodyPr wrap="square" lIns="0" rIns="0" tIns="0" bIns="0" anchor="t">
            <a:spAutoFit/>
          </a:bodyPr>
          <a:lstStyle/>
          <a:p>
            <a:pPr algn="r">
              <a:lnSpc>
                <a:spcPct val="115000"/>
              </a:lnSpc>
            </a:pPr>
            <a:r>
              <a:rPr sz="1050" b="0">
                <a:solidFill>
                  <a:srgbClr val="5D7186"/>
                </a:solidFill>
                <a:latin typeface="Courier New"/>
              </a:rPr>
              <a:t>3 / 5</a:t>
            </a:r>
          </a:p>
        </p:txBody>
      </p:sp>
      <p:sp>
        <p:nvSpPr>
          <p:cNvPr id="7" name="Rectangle 6"/>
          <p:cNvSpPr/>
          <p:nvPr/>
        </p:nvSpPr>
        <p:spPr>
          <a:xfrm>
            <a:off x="685800" y="199796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1832" y="1892808"/>
            <a:ext cx="10533888" cy="402336"/>
          </a:xfrm>
          <a:prstGeom prst="rect">
            <a:avLst/>
          </a:prstGeom>
          <a:noFill/>
        </p:spPr>
        <p:txBody>
          <a:bodyPr wrap="square" lIns="0" rIns="0" tIns="0" bIns="0">
            <a:spAutoFit/>
          </a:bodyPr>
          <a:lstStyle/>
          <a:p>
            <a:pPr>
              <a:lnSpc>
                <a:spcPct val="120000"/>
              </a:lnSpc>
            </a:pPr>
            <a:r>
              <a:rPr sz="1350" b="1">
                <a:solidFill>
                  <a:srgbClr val="E9EFF6"/>
                </a:solidFill>
                <a:latin typeface="Arial"/>
              </a:rPr>
              <a:t>Wire:</a:t>
            </a:r>
            <a:r>
              <a:rPr sz="1350">
                <a:solidFill>
                  <a:srgbClr val="8AA0B5"/>
                </a:solidFill>
                <a:latin typeface="Arial"/>
              </a:rPr>
              <a:t> 8.483 → 0.089 ms per hop (reported, T1-A4).</a:t>
            </a:r>
          </a:p>
        </p:txBody>
      </p:sp>
      <p:sp>
        <p:nvSpPr>
          <p:cNvPr id="9" name="Rectangle 8"/>
          <p:cNvSpPr/>
          <p:nvPr/>
        </p:nvSpPr>
        <p:spPr>
          <a:xfrm>
            <a:off x="685800" y="2400300"/>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1832" y="2295144"/>
            <a:ext cx="10533888" cy="402336"/>
          </a:xfrm>
          <a:prstGeom prst="rect">
            <a:avLst/>
          </a:prstGeom>
          <a:noFill/>
        </p:spPr>
        <p:txBody>
          <a:bodyPr wrap="square" lIns="0" rIns="0" tIns="0" bIns="0">
            <a:spAutoFit/>
          </a:bodyPr>
          <a:lstStyle/>
          <a:p>
            <a:pPr>
              <a:lnSpc>
                <a:spcPct val="120000"/>
              </a:lnSpc>
            </a:pPr>
            <a:r>
              <a:rPr sz="1350" b="1">
                <a:solidFill>
                  <a:srgbClr val="E9EFF6"/>
                </a:solidFill>
                <a:latin typeface="Arial"/>
              </a:rPr>
              <a:t>4.0 ms/hop of that</a:t>
            </a:r>
            <a:r>
              <a:rPr sz="1350">
                <a:solidFill>
                  <a:srgbClr val="8AA0B5"/>
                </a:solidFill>
                <a:latin typeface="Arial"/>
              </a:rPr>
              <a:t> was TLS cert parsing on plain http (reported).</a:t>
            </a:r>
          </a:p>
        </p:txBody>
      </p:sp>
      <p:sp>
        <p:nvSpPr>
          <p:cNvPr id="11" name="Rectangle 10"/>
          <p:cNvSpPr/>
          <p:nvPr/>
        </p:nvSpPr>
        <p:spPr>
          <a:xfrm>
            <a:off x="685800" y="2802636"/>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1832" y="2697480"/>
            <a:ext cx="10533888" cy="402336"/>
          </a:xfrm>
          <a:prstGeom prst="rect">
            <a:avLst/>
          </a:prstGeom>
          <a:noFill/>
        </p:spPr>
        <p:txBody>
          <a:bodyPr wrap="square" lIns="0" rIns="0" tIns="0" bIns="0">
            <a:spAutoFit/>
          </a:bodyPr>
          <a:lstStyle/>
          <a:p>
            <a:pPr>
              <a:lnSpc>
                <a:spcPct val="120000"/>
              </a:lnSpc>
            </a:pPr>
            <a:r>
              <a:rPr sz="1350" b="1">
                <a:solidFill>
                  <a:srgbClr val="E9EFF6"/>
                </a:solidFill>
                <a:latin typeface="Arial"/>
              </a:rPr>
              <a:t>Bytes:</a:t>
            </a:r>
            <a:r>
              <a:rPr sz="1350">
                <a:solidFill>
                  <a:srgbClr val="8AA0B5"/>
                </a:solidFill>
                <a:latin typeface="Arial"/>
              </a:rPr>
              <a:t> bf16 halves the wire, 99.41% top-1, 3.5 µs (measured).</a:t>
            </a:r>
          </a:p>
        </p:txBody>
      </p:sp>
      <p:sp>
        <p:nvSpPr>
          <p:cNvPr id="13" name="Rectangle 12"/>
          <p:cNvSpPr/>
          <p:nvPr/>
        </p:nvSpPr>
        <p:spPr>
          <a:xfrm>
            <a:off x="685800" y="3204972"/>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1832" y="3099816"/>
            <a:ext cx="10533888" cy="402336"/>
          </a:xfrm>
          <a:prstGeom prst="rect">
            <a:avLst/>
          </a:prstGeom>
          <a:noFill/>
        </p:spPr>
        <p:txBody>
          <a:bodyPr wrap="square" lIns="0" rIns="0" tIns="0" bIns="0">
            <a:spAutoFit/>
          </a:bodyPr>
          <a:lstStyle/>
          <a:p>
            <a:pPr>
              <a:lnSpc>
                <a:spcPct val="120000"/>
              </a:lnSpc>
            </a:pPr>
            <a:r>
              <a:rPr sz="1350" b="1">
                <a:solidFill>
                  <a:srgbClr val="E9EFF6"/>
                </a:solidFill>
                <a:latin typeface="Arial"/>
              </a:rPr>
              <a:t>One channel is 972x the median</a:t>
            </a:r>
            <a:r>
              <a:rPr sz="1350">
                <a:solidFill>
                  <a:srgbClr val="8AA0B5"/>
                </a:solidFill>
                <a:latin typeface="Arial"/>
              </a:rPr>
              <a:t> — naive int8 outputs garbage (measured).</a:t>
            </a:r>
          </a:p>
        </p:txBody>
      </p:sp>
      <p:sp>
        <p:nvSpPr>
          <p:cNvPr id="15" name="Rectangle 14"/>
          <p:cNvSpPr/>
          <p:nvPr/>
        </p:nvSpPr>
        <p:spPr>
          <a:xfrm>
            <a:off x="685800" y="3607308"/>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1832" y="3502152"/>
            <a:ext cx="10533888" cy="402336"/>
          </a:xfrm>
          <a:prstGeom prst="rect">
            <a:avLst/>
          </a:prstGeom>
          <a:noFill/>
        </p:spPr>
        <p:txBody>
          <a:bodyPr wrap="square" lIns="0" rIns="0" tIns="0" bIns="0">
            <a:spAutoFit/>
          </a:bodyPr>
          <a:lstStyle/>
          <a:p>
            <a:pPr>
              <a:lnSpc>
                <a:spcPct val="120000"/>
              </a:lnSpc>
            </a:pPr>
            <a:r>
              <a:rPr sz="1350" b="1">
                <a:solidFill>
                  <a:srgbClr val="E9EFF6"/>
                </a:solidFill>
                <a:latin typeface="Arial"/>
              </a:rPr>
              <a:t>Queue:</a:t>
            </a:r>
            <a:r>
              <a:rPr sz="1350">
                <a:solidFill>
                  <a:srgbClr val="8AA0B5"/>
                </a:solidFill>
                <a:latin typeface="Arial"/>
              </a:rPr>
              <a:t> U = min(1, R/S). One request cannot fill three stages (derived).</a:t>
            </a:r>
          </a:p>
        </p:txBody>
      </p:sp>
      <p:sp>
        <p:nvSpPr>
          <p:cNvPr id="17" name="TextBox 16"/>
          <p:cNvSpPr txBox="1"/>
          <p:nvPr/>
        </p:nvSpPr>
        <p:spPr>
          <a:xfrm>
            <a:off x="685800" y="4114800"/>
            <a:ext cx="1371600" cy="274320"/>
          </a:xfrm>
          <a:prstGeom prst="rect">
            <a:avLst/>
          </a:prstGeom>
          <a:noFill/>
        </p:spPr>
        <p:txBody>
          <a:bodyPr wrap="square" lIns="0" rIns="0" tIns="0" bIns="0" anchor="t">
            <a:spAutoFit/>
          </a:bodyPr>
          <a:lstStyle/>
          <a:p>
            <a:pPr algn="l">
              <a:lnSpc>
                <a:spcPct val="115000"/>
              </a:lnSpc>
            </a:pPr>
            <a:r>
              <a:rPr sz="950" b="1">
                <a:solidFill>
                  <a:srgbClr val="2DD4BF"/>
                </a:solidFill>
                <a:latin typeface="Courier New"/>
              </a:rPr>
              <a:t>A · WIRE</a:t>
            </a:r>
          </a:p>
        </p:txBody>
      </p:sp>
      <p:sp>
        <p:nvSpPr>
          <p:cNvPr id="18" name="Rounded Rectangle 17"/>
          <p:cNvSpPr/>
          <p:nvPr/>
        </p:nvSpPr>
        <p:spPr>
          <a:xfrm>
            <a:off x="685800" y="4425696"/>
            <a:ext cx="2331720" cy="237744"/>
          </a:xfrm>
          <a:prstGeom prst="roundRect">
            <a:avLst>
              <a:gd name="adj" fmla="val 12000"/>
            </a:avLst>
          </a:prstGeom>
          <a:solidFill>
            <a:srgbClr val="2A35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85800" y="4718304"/>
            <a:ext cx="310896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HTTP+JSON+b64  8.483 ms</a:t>
            </a:r>
          </a:p>
        </p:txBody>
      </p:sp>
      <p:sp>
        <p:nvSpPr>
          <p:cNvPr id="20" name="Rounded Rectangle 19"/>
          <p:cNvSpPr/>
          <p:nvPr/>
        </p:nvSpPr>
        <p:spPr>
          <a:xfrm>
            <a:off x="685800" y="5029200"/>
            <a:ext cx="128016" cy="237744"/>
          </a:xfrm>
          <a:prstGeom prst="roundRect">
            <a:avLst>
              <a:gd name="adj" fmla="val 12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896112" y="5047488"/>
            <a:ext cx="3108960" cy="274320"/>
          </a:xfrm>
          <a:prstGeom prst="rect">
            <a:avLst/>
          </a:prstGeom>
          <a:noFill/>
        </p:spPr>
        <p:txBody>
          <a:bodyPr wrap="square" lIns="0" rIns="0" tIns="0" bIns="0" anchor="t">
            <a:spAutoFit/>
          </a:bodyPr>
          <a:lstStyle/>
          <a:p>
            <a:pPr algn="l">
              <a:lnSpc>
                <a:spcPct val="115000"/>
              </a:lnSpc>
            </a:pPr>
            <a:r>
              <a:rPr sz="900" b="0">
                <a:solidFill>
                  <a:srgbClr val="2DD4BF"/>
                </a:solidFill>
                <a:latin typeface="Courier New"/>
              </a:rPr>
              <a:t>DLP frame  0.089 ms</a:t>
            </a:r>
          </a:p>
        </p:txBody>
      </p:sp>
      <p:sp>
        <p:nvSpPr>
          <p:cNvPr id="22" name="TextBox 21"/>
          <p:cNvSpPr txBox="1"/>
          <p:nvPr/>
        </p:nvSpPr>
        <p:spPr>
          <a:xfrm>
            <a:off x="3127248" y="4617720"/>
            <a:ext cx="731520" cy="365760"/>
          </a:xfrm>
          <a:prstGeom prst="rect">
            <a:avLst/>
          </a:prstGeom>
          <a:noFill/>
        </p:spPr>
        <p:txBody>
          <a:bodyPr wrap="square" lIns="0" rIns="0" tIns="0" bIns="0" anchor="t">
            <a:spAutoFit/>
          </a:bodyPr>
          <a:lstStyle/>
          <a:p>
            <a:pPr algn="l">
              <a:lnSpc>
                <a:spcPct val="115000"/>
              </a:lnSpc>
            </a:pPr>
            <a:r>
              <a:rPr sz="1900" b="1">
                <a:solidFill>
                  <a:srgbClr val="E9EFF6"/>
                </a:solidFill>
                <a:latin typeface="Courier New"/>
              </a:rPr>
              <a:t>95x</a:t>
            </a:r>
          </a:p>
        </p:txBody>
      </p:sp>
      <p:sp>
        <p:nvSpPr>
          <p:cNvPr id="23" name="TextBox 22"/>
          <p:cNvSpPr txBox="1"/>
          <p:nvPr/>
        </p:nvSpPr>
        <p:spPr>
          <a:xfrm>
            <a:off x="685800" y="5358384"/>
            <a:ext cx="3383280" cy="274320"/>
          </a:xfrm>
          <a:prstGeom prst="rect">
            <a:avLst/>
          </a:prstGeom>
          <a:noFill/>
        </p:spPr>
        <p:txBody>
          <a:bodyPr wrap="square" lIns="0" rIns="0" tIns="0" bIns="0" anchor="t">
            <a:spAutoFit/>
          </a:bodyPr>
          <a:lstStyle/>
          <a:p>
            <a:pPr algn="l">
              <a:lnSpc>
                <a:spcPct val="115000"/>
              </a:lnSpc>
            </a:pPr>
            <a:r>
              <a:rPr sz="850" b="0">
                <a:solidFill>
                  <a:srgbClr val="5D7186"/>
                </a:solidFill>
                <a:latin typeface="Courier New"/>
              </a:rPr>
              <a:t>40-byte header · persistent socket · TCP_NODELAY</a:t>
            </a:r>
          </a:p>
        </p:txBody>
      </p:sp>
      <p:sp>
        <p:nvSpPr>
          <p:cNvPr id="24" name="TextBox 23"/>
          <p:cNvSpPr txBox="1"/>
          <p:nvPr/>
        </p:nvSpPr>
        <p:spPr>
          <a:xfrm>
            <a:off x="4160520" y="4114800"/>
            <a:ext cx="1371600" cy="274320"/>
          </a:xfrm>
          <a:prstGeom prst="rect">
            <a:avLst/>
          </a:prstGeom>
          <a:noFill/>
        </p:spPr>
        <p:txBody>
          <a:bodyPr wrap="square" lIns="0" rIns="0" tIns="0" bIns="0" anchor="t">
            <a:spAutoFit/>
          </a:bodyPr>
          <a:lstStyle/>
          <a:p>
            <a:pPr algn="l">
              <a:lnSpc>
                <a:spcPct val="115000"/>
              </a:lnSpc>
            </a:pPr>
            <a:r>
              <a:rPr sz="950" b="1">
                <a:solidFill>
                  <a:srgbClr val="8F8FFB"/>
                </a:solidFill>
                <a:latin typeface="Courier New"/>
              </a:rPr>
              <a:t>B · BYTES</a:t>
            </a:r>
          </a:p>
        </p:txBody>
      </p:sp>
      <p:sp>
        <p:nvSpPr>
          <p:cNvPr id="25" name="Rounded Rectangle 24"/>
          <p:cNvSpPr/>
          <p:nvPr/>
        </p:nvSpPr>
        <p:spPr>
          <a:xfrm>
            <a:off x="4160520" y="4535424"/>
            <a:ext cx="868680" cy="822960"/>
          </a:xfrm>
          <a:prstGeom prst="roundRect">
            <a:avLst>
              <a:gd name="adj" fmla="val 5000"/>
            </a:avLst>
          </a:prstGeom>
          <a:solidFill>
            <a:srgbClr val="8F8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4160520" y="5394960"/>
            <a:ext cx="1005840" cy="274320"/>
          </a:xfrm>
          <a:prstGeom prst="rect">
            <a:avLst/>
          </a:prstGeom>
          <a:noFill/>
        </p:spPr>
        <p:txBody>
          <a:bodyPr wrap="square" lIns="0" rIns="0" tIns="0" bIns="0" anchor="t">
            <a:spAutoFit/>
          </a:bodyPr>
          <a:lstStyle/>
          <a:p>
            <a:pPr algn="l">
              <a:lnSpc>
                <a:spcPct val="115000"/>
              </a:lnSpc>
            </a:pPr>
            <a:r>
              <a:rPr sz="900" b="0">
                <a:solidFill>
                  <a:srgbClr val="E9EFF6"/>
                </a:solidFill>
                <a:latin typeface="Courier New"/>
              </a:rPr>
              <a:t>3584 B</a:t>
            </a:r>
          </a:p>
        </p:txBody>
      </p:sp>
      <p:sp>
        <p:nvSpPr>
          <p:cNvPr id="27" name="TextBox 26"/>
          <p:cNvSpPr txBox="1"/>
          <p:nvPr/>
        </p:nvSpPr>
        <p:spPr>
          <a:xfrm>
            <a:off x="4160520" y="5596128"/>
            <a:ext cx="1207008" cy="274320"/>
          </a:xfrm>
          <a:prstGeom prst="rect">
            <a:avLst/>
          </a:prstGeom>
          <a:noFill/>
        </p:spPr>
        <p:txBody>
          <a:bodyPr wrap="square" lIns="0" rIns="0" tIns="0" bIns="0" anchor="t">
            <a:spAutoFit/>
          </a:bodyPr>
          <a:lstStyle/>
          <a:p>
            <a:pPr algn="l">
              <a:lnSpc>
                <a:spcPct val="115000"/>
              </a:lnSpc>
            </a:pPr>
            <a:r>
              <a:rPr sz="850" b="0">
                <a:solidFill>
                  <a:srgbClr val="8AA0B5"/>
                </a:solidFill>
                <a:latin typeface="Courier New"/>
              </a:rPr>
              <a:t>fp32</a:t>
            </a:r>
          </a:p>
        </p:txBody>
      </p:sp>
      <p:sp>
        <p:nvSpPr>
          <p:cNvPr id="28" name="Rounded Rectangle 27"/>
          <p:cNvSpPr/>
          <p:nvPr/>
        </p:nvSpPr>
        <p:spPr>
          <a:xfrm>
            <a:off x="5367528" y="4791456"/>
            <a:ext cx="868680" cy="566928"/>
          </a:xfrm>
          <a:prstGeom prst="roundRect">
            <a:avLst>
              <a:gd name="adj" fmla="val 5000"/>
            </a:avLst>
          </a:prstGeom>
          <a:solidFill>
            <a:srgbClr val="8F8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5367528" y="5394960"/>
            <a:ext cx="1005840" cy="274320"/>
          </a:xfrm>
          <a:prstGeom prst="rect">
            <a:avLst/>
          </a:prstGeom>
          <a:noFill/>
        </p:spPr>
        <p:txBody>
          <a:bodyPr wrap="square" lIns="0" rIns="0" tIns="0" bIns="0" anchor="t">
            <a:spAutoFit/>
          </a:bodyPr>
          <a:lstStyle/>
          <a:p>
            <a:pPr algn="l">
              <a:lnSpc>
                <a:spcPct val="115000"/>
              </a:lnSpc>
            </a:pPr>
            <a:r>
              <a:rPr sz="900" b="0">
                <a:solidFill>
                  <a:srgbClr val="E9EFF6"/>
                </a:solidFill>
                <a:latin typeface="Courier New"/>
              </a:rPr>
              <a:t>1792 B</a:t>
            </a:r>
          </a:p>
        </p:txBody>
      </p:sp>
      <p:sp>
        <p:nvSpPr>
          <p:cNvPr id="30" name="TextBox 29"/>
          <p:cNvSpPr txBox="1"/>
          <p:nvPr/>
        </p:nvSpPr>
        <p:spPr>
          <a:xfrm>
            <a:off x="5367528" y="5596128"/>
            <a:ext cx="1207008" cy="274320"/>
          </a:xfrm>
          <a:prstGeom prst="rect">
            <a:avLst/>
          </a:prstGeom>
          <a:noFill/>
        </p:spPr>
        <p:txBody>
          <a:bodyPr wrap="square" lIns="0" rIns="0" tIns="0" bIns="0" anchor="t">
            <a:spAutoFit/>
          </a:bodyPr>
          <a:lstStyle/>
          <a:p>
            <a:pPr algn="l">
              <a:lnSpc>
                <a:spcPct val="115000"/>
              </a:lnSpc>
            </a:pPr>
            <a:r>
              <a:rPr sz="850" b="0">
                <a:solidFill>
                  <a:srgbClr val="8AA0B5"/>
                </a:solidFill>
                <a:latin typeface="Courier New"/>
              </a:rPr>
              <a:t>bf16</a:t>
            </a:r>
          </a:p>
        </p:txBody>
      </p:sp>
      <p:sp>
        <p:nvSpPr>
          <p:cNvPr id="31" name="Rounded Rectangle 30"/>
          <p:cNvSpPr/>
          <p:nvPr/>
        </p:nvSpPr>
        <p:spPr>
          <a:xfrm>
            <a:off x="6574536" y="4992624"/>
            <a:ext cx="868680" cy="365760"/>
          </a:xfrm>
          <a:prstGeom prst="roundRect">
            <a:avLst>
              <a:gd name="adj" fmla="val 5000"/>
            </a:avLst>
          </a:prstGeom>
          <a:solidFill>
            <a:srgbClr val="2A3542"/>
          </a:solidFill>
          <a:ln w="12700">
            <a:solidFill>
              <a:srgbClr val="5D71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6574536" y="5394960"/>
            <a:ext cx="100584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906 B</a:t>
            </a:r>
          </a:p>
        </p:txBody>
      </p:sp>
      <p:sp>
        <p:nvSpPr>
          <p:cNvPr id="33" name="TextBox 32"/>
          <p:cNvSpPr txBox="1"/>
          <p:nvPr/>
        </p:nvSpPr>
        <p:spPr>
          <a:xfrm>
            <a:off x="6574536" y="5596128"/>
            <a:ext cx="1207008" cy="274320"/>
          </a:xfrm>
          <a:prstGeom prst="rect">
            <a:avLst/>
          </a:prstGeom>
          <a:noFill/>
        </p:spPr>
        <p:txBody>
          <a:bodyPr wrap="square" lIns="0" rIns="0" tIns="0" bIns="0" anchor="t">
            <a:spAutoFit/>
          </a:bodyPr>
          <a:lstStyle/>
          <a:p>
            <a:pPr algn="l">
              <a:lnSpc>
                <a:spcPct val="115000"/>
              </a:lnSpc>
            </a:pPr>
            <a:r>
              <a:rPr sz="850" b="0">
                <a:solidFill>
                  <a:srgbClr val="8AA0B5"/>
                </a:solidFill>
                <a:latin typeface="Courier New"/>
              </a:rPr>
              <a:t>int8+outliers</a:t>
            </a:r>
          </a:p>
        </p:txBody>
      </p:sp>
      <p:sp>
        <p:nvSpPr>
          <p:cNvPr id="34" name="TextBox 33"/>
          <p:cNvSpPr txBox="1"/>
          <p:nvPr/>
        </p:nvSpPr>
        <p:spPr>
          <a:xfrm>
            <a:off x="6355080" y="5010912"/>
            <a:ext cx="457200" cy="365760"/>
          </a:xfrm>
          <a:prstGeom prst="rect">
            <a:avLst/>
          </a:prstGeom>
          <a:noFill/>
        </p:spPr>
        <p:txBody>
          <a:bodyPr wrap="square" lIns="0" rIns="0" tIns="0" bIns="0" anchor="t">
            <a:spAutoFit/>
          </a:bodyPr>
          <a:lstStyle/>
          <a:p>
            <a:pPr algn="l">
              <a:lnSpc>
                <a:spcPct val="115000"/>
              </a:lnSpc>
            </a:pPr>
            <a:r>
              <a:rPr sz="1800" b="1">
                <a:solidFill>
                  <a:srgbClr val="FB7185"/>
                </a:solidFill>
                <a:latin typeface="Courier New"/>
              </a:rPr>
              <a:t>✕</a:t>
            </a:r>
          </a:p>
        </p:txBody>
      </p:sp>
      <p:sp>
        <p:nvSpPr>
          <p:cNvPr id="35" name="TextBox 34"/>
          <p:cNvSpPr txBox="1"/>
          <p:nvPr/>
        </p:nvSpPr>
        <p:spPr>
          <a:xfrm>
            <a:off x="4160520" y="4370832"/>
            <a:ext cx="3291840" cy="274320"/>
          </a:xfrm>
          <a:prstGeom prst="rect">
            <a:avLst/>
          </a:prstGeom>
          <a:noFill/>
        </p:spPr>
        <p:txBody>
          <a:bodyPr wrap="square" lIns="0" rIns="0" tIns="0" bIns="0" anchor="t">
            <a:spAutoFit/>
          </a:bodyPr>
          <a:lstStyle/>
          <a:p>
            <a:pPr algn="l">
              <a:lnSpc>
                <a:spcPct val="115000"/>
              </a:lnSpc>
            </a:pPr>
            <a:r>
              <a:rPr sz="850" b="0">
                <a:solidFill>
                  <a:srgbClr val="FB7185"/>
                </a:solidFill>
                <a:latin typeface="Courier New"/>
              </a:rPr>
              <a:t>LAN crossover: ~2 Mbit/s — stop at bf16</a:t>
            </a:r>
          </a:p>
        </p:txBody>
      </p:sp>
      <p:sp>
        <p:nvSpPr>
          <p:cNvPr id="36" name="TextBox 35"/>
          <p:cNvSpPr txBox="1"/>
          <p:nvPr/>
        </p:nvSpPr>
        <p:spPr>
          <a:xfrm>
            <a:off x="8092440" y="4114800"/>
            <a:ext cx="1371600" cy="274320"/>
          </a:xfrm>
          <a:prstGeom prst="rect">
            <a:avLst/>
          </a:prstGeom>
          <a:noFill/>
        </p:spPr>
        <p:txBody>
          <a:bodyPr wrap="square" lIns="0" rIns="0" tIns="0" bIns="0" anchor="t">
            <a:spAutoFit/>
          </a:bodyPr>
          <a:lstStyle/>
          <a:p>
            <a:pPr algn="l">
              <a:lnSpc>
                <a:spcPct val="115000"/>
              </a:lnSpc>
            </a:pPr>
            <a:r>
              <a:rPr sz="950" b="1">
                <a:solidFill>
                  <a:srgbClr val="F472A6"/>
                </a:solidFill>
                <a:latin typeface="Courier New"/>
              </a:rPr>
              <a:t>C · QUEUE</a:t>
            </a:r>
          </a:p>
        </p:txBody>
      </p:sp>
      <p:sp>
        <p:nvSpPr>
          <p:cNvPr id="37" name="TextBox 36"/>
          <p:cNvSpPr txBox="1"/>
          <p:nvPr/>
        </p:nvSpPr>
        <p:spPr>
          <a:xfrm>
            <a:off x="8092440" y="4535424"/>
            <a:ext cx="457200" cy="274320"/>
          </a:xfrm>
          <a:prstGeom prst="rect">
            <a:avLst/>
          </a:prstGeom>
          <a:noFill/>
        </p:spPr>
        <p:txBody>
          <a:bodyPr wrap="square" lIns="0" rIns="0" tIns="0" bIns="0" anchor="t">
            <a:spAutoFit/>
          </a:bodyPr>
          <a:lstStyle/>
          <a:p>
            <a:pPr algn="l">
              <a:lnSpc>
                <a:spcPct val="115000"/>
              </a:lnSpc>
            </a:pPr>
            <a:r>
              <a:rPr sz="900" b="0">
                <a:solidFill>
                  <a:srgbClr val="8AA0B5"/>
                </a:solidFill>
                <a:latin typeface="Courier New"/>
              </a:rPr>
              <a:t>R=1</a:t>
            </a:r>
          </a:p>
        </p:txBody>
      </p:sp>
      <p:sp>
        <p:nvSpPr>
          <p:cNvPr id="38" name="Rectangle 37"/>
          <p:cNvSpPr/>
          <p:nvPr/>
        </p:nvSpPr>
        <p:spPr>
          <a:xfrm>
            <a:off x="8613648" y="4443984"/>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ectangle 38"/>
          <p:cNvSpPr/>
          <p:nvPr/>
        </p:nvSpPr>
        <p:spPr>
          <a:xfrm>
            <a:off x="8613648" y="4443984"/>
            <a:ext cx="77724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ectangle 39"/>
          <p:cNvSpPr/>
          <p:nvPr/>
        </p:nvSpPr>
        <p:spPr>
          <a:xfrm>
            <a:off x="8613648" y="4562856"/>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ectangle 40"/>
          <p:cNvSpPr/>
          <p:nvPr/>
        </p:nvSpPr>
        <p:spPr>
          <a:xfrm>
            <a:off x="9390888" y="4562856"/>
            <a:ext cx="77724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ectangle 41"/>
          <p:cNvSpPr/>
          <p:nvPr/>
        </p:nvSpPr>
        <p:spPr>
          <a:xfrm>
            <a:off x="8613648" y="4681728"/>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ectangle 42"/>
          <p:cNvSpPr/>
          <p:nvPr/>
        </p:nvSpPr>
        <p:spPr>
          <a:xfrm>
            <a:off x="10168128" y="4681728"/>
            <a:ext cx="77724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TextBox 43"/>
          <p:cNvSpPr txBox="1"/>
          <p:nvPr/>
        </p:nvSpPr>
        <p:spPr>
          <a:xfrm>
            <a:off x="11018520" y="4535424"/>
            <a:ext cx="822960" cy="274320"/>
          </a:xfrm>
          <a:prstGeom prst="rect">
            <a:avLst/>
          </a:prstGeom>
          <a:noFill/>
        </p:spPr>
        <p:txBody>
          <a:bodyPr wrap="square" lIns="0" rIns="0" tIns="0" bIns="0" anchor="t">
            <a:spAutoFit/>
          </a:bodyPr>
          <a:lstStyle/>
          <a:p>
            <a:pPr algn="l">
              <a:lnSpc>
                <a:spcPct val="115000"/>
              </a:lnSpc>
            </a:pPr>
            <a:r>
              <a:rPr sz="1100" b="1">
                <a:solidFill>
                  <a:srgbClr val="E9EFF6"/>
                </a:solidFill>
                <a:latin typeface="Courier New"/>
              </a:rPr>
              <a:t>33%</a:t>
            </a:r>
          </a:p>
        </p:txBody>
      </p:sp>
      <p:sp>
        <p:nvSpPr>
          <p:cNvPr id="45" name="TextBox 44"/>
          <p:cNvSpPr txBox="1"/>
          <p:nvPr/>
        </p:nvSpPr>
        <p:spPr>
          <a:xfrm>
            <a:off x="8092440" y="5102352"/>
            <a:ext cx="457200" cy="274320"/>
          </a:xfrm>
          <a:prstGeom prst="rect">
            <a:avLst/>
          </a:prstGeom>
          <a:noFill/>
        </p:spPr>
        <p:txBody>
          <a:bodyPr wrap="square" lIns="0" rIns="0" tIns="0" bIns="0" anchor="t">
            <a:spAutoFit/>
          </a:bodyPr>
          <a:lstStyle/>
          <a:p>
            <a:pPr algn="l">
              <a:lnSpc>
                <a:spcPct val="115000"/>
              </a:lnSpc>
            </a:pPr>
            <a:r>
              <a:rPr sz="900" b="0">
                <a:solidFill>
                  <a:srgbClr val="8AA0B5"/>
                </a:solidFill>
                <a:latin typeface="Courier New"/>
              </a:rPr>
              <a:t>R=3</a:t>
            </a:r>
          </a:p>
        </p:txBody>
      </p:sp>
      <p:sp>
        <p:nvSpPr>
          <p:cNvPr id="46" name="Rectangle 45"/>
          <p:cNvSpPr/>
          <p:nvPr/>
        </p:nvSpPr>
        <p:spPr>
          <a:xfrm>
            <a:off x="8613648" y="5010912"/>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Rectangle 46"/>
          <p:cNvSpPr/>
          <p:nvPr/>
        </p:nvSpPr>
        <p:spPr>
          <a:xfrm>
            <a:off x="8613648" y="5010912"/>
            <a:ext cx="233172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Rectangle 47"/>
          <p:cNvSpPr/>
          <p:nvPr/>
        </p:nvSpPr>
        <p:spPr>
          <a:xfrm>
            <a:off x="8613648" y="5129784"/>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9" name="Rectangle 48"/>
          <p:cNvSpPr/>
          <p:nvPr/>
        </p:nvSpPr>
        <p:spPr>
          <a:xfrm>
            <a:off x="8613648" y="5129784"/>
            <a:ext cx="233172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Rectangle 49"/>
          <p:cNvSpPr/>
          <p:nvPr/>
        </p:nvSpPr>
        <p:spPr>
          <a:xfrm>
            <a:off x="8613648" y="5248656"/>
            <a:ext cx="2331720" cy="91440"/>
          </a:xfrm>
          <a:prstGeom prst="rect">
            <a:avLst/>
          </a:prstGeom>
          <a:solidFill>
            <a:srgbClr val="1C27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Rectangle 50"/>
          <p:cNvSpPr/>
          <p:nvPr/>
        </p:nvSpPr>
        <p:spPr>
          <a:xfrm>
            <a:off x="8613648" y="5248656"/>
            <a:ext cx="2331720" cy="91440"/>
          </a:xfrm>
          <a:prstGeom prst="rect">
            <a:avLst/>
          </a:prstGeom>
          <a:solidFill>
            <a:srgbClr val="F472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11018520" y="5102352"/>
            <a:ext cx="822960" cy="274320"/>
          </a:xfrm>
          <a:prstGeom prst="rect">
            <a:avLst/>
          </a:prstGeom>
          <a:noFill/>
        </p:spPr>
        <p:txBody>
          <a:bodyPr wrap="square" lIns="0" rIns="0" tIns="0" bIns="0" anchor="t">
            <a:spAutoFit/>
          </a:bodyPr>
          <a:lstStyle/>
          <a:p>
            <a:pPr algn="l">
              <a:lnSpc>
                <a:spcPct val="115000"/>
              </a:lnSpc>
            </a:pPr>
            <a:r>
              <a:rPr sz="1100" b="1">
                <a:solidFill>
                  <a:srgbClr val="E9EFF6"/>
                </a:solidFill>
                <a:latin typeface="Courier New"/>
              </a:rPr>
              <a:t>~100%</a:t>
            </a:r>
          </a:p>
        </p:txBody>
      </p:sp>
      <p:sp>
        <p:nvSpPr>
          <p:cNvPr id="53" name="TextBox 52"/>
          <p:cNvSpPr txBox="1"/>
          <p:nvPr/>
        </p:nvSpPr>
        <p:spPr>
          <a:xfrm>
            <a:off x="8092440" y="5596128"/>
            <a:ext cx="3840480" cy="274320"/>
          </a:xfrm>
          <a:prstGeom prst="rect">
            <a:avLst/>
          </a:prstGeom>
          <a:noFill/>
        </p:spPr>
        <p:txBody>
          <a:bodyPr wrap="square" lIns="0" rIns="0" tIns="0" bIns="0" anchor="t">
            <a:spAutoFit/>
          </a:bodyPr>
          <a:lstStyle/>
          <a:p>
            <a:pPr algn="l">
              <a:lnSpc>
                <a:spcPct val="115000"/>
              </a:lnSpc>
            </a:pPr>
            <a:r>
              <a:rPr sz="850" b="0">
                <a:solidFill>
                  <a:srgbClr val="5D7186"/>
                </a:solidFill>
                <a:latin typeface="Courier New"/>
              </a:rPr>
              <a:t>1.40 → 4.21 tok/s at unchanged per-request latency (modelled)</a:t>
            </a:r>
          </a:p>
        </p:txBody>
      </p:sp>
      <p:sp>
        <p:nvSpPr>
          <p:cNvPr id="54" name="TextBox 53"/>
          <p:cNvSpPr txBox="1"/>
          <p:nvPr/>
        </p:nvSpPr>
        <p:spPr>
          <a:xfrm>
            <a:off x="685800" y="6199632"/>
            <a:ext cx="10820095" cy="411480"/>
          </a:xfrm>
          <a:prstGeom prst="rect">
            <a:avLst/>
          </a:prstGeom>
          <a:noFill/>
        </p:spPr>
        <p:txBody>
          <a:bodyPr wrap="square" lIns="0" rIns="0" tIns="0" bIns="0" anchor="t">
            <a:spAutoFit/>
          </a:bodyPr>
          <a:lstStyle/>
          <a:p>
            <a:pPr algn="l">
              <a:lnSpc>
                <a:spcPct val="125000"/>
              </a:lnSpc>
            </a:pPr>
            <a:r>
              <a:rPr sz="900" b="0">
                <a:solidFill>
                  <a:srgbClr val="5D7186"/>
                </a:solidFill>
                <a:latin typeface="Courier New"/>
              </a:rPr>
              <a:t>Panel B is a negative result we kept on the slide: below bf16 nothing pays until the link drops under ~2 Mbit/s (90-AUDIT F01 supersedes the team file here). Panel A is reported by T1-A4 and has no script in bench/ - reported, not reproduced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475488"/>
            <a:ext cx="7315200" cy="274320"/>
          </a:xfrm>
          <a:prstGeom prst="rect">
            <a:avLst/>
          </a:prstGeom>
          <a:noFill/>
        </p:spPr>
        <p:txBody>
          <a:bodyPr wrap="square" lIns="0" rIns="0" tIns="0" bIns="0" anchor="t">
            <a:spAutoFit/>
          </a:bodyPr>
          <a:lstStyle/>
          <a:p>
            <a:pPr algn="l">
              <a:lnSpc>
                <a:spcPct val="115000"/>
              </a:lnSpc>
            </a:pPr>
            <a:r>
              <a:rPr sz="1050" b="0">
                <a:solidFill>
                  <a:srgbClr val="F0A83C"/>
                </a:solidFill>
                <a:latin typeface="Courier New"/>
              </a:rPr>
              <a:t>THE SCOREBOARD</a:t>
            </a:r>
          </a:p>
        </p:txBody>
      </p:sp>
      <p:sp>
        <p:nvSpPr>
          <p:cNvPr id="4" name="TextBox 3"/>
          <p:cNvSpPr txBox="1"/>
          <p:nvPr/>
        </p:nvSpPr>
        <p:spPr>
          <a:xfrm>
            <a:off x="685800" y="777240"/>
            <a:ext cx="10058400" cy="777240"/>
          </a:xfrm>
          <a:prstGeom prst="rect">
            <a:avLst/>
          </a:prstGeom>
          <a:noFill/>
        </p:spPr>
        <p:txBody>
          <a:bodyPr wrap="square" lIns="0" rIns="0" tIns="0" bIns="0" anchor="t">
            <a:spAutoFit/>
          </a:bodyPr>
          <a:lstStyle/>
          <a:p>
            <a:pPr algn="l">
              <a:lnSpc>
                <a:spcPct val="115000"/>
              </a:lnSpc>
            </a:pPr>
            <a:r>
              <a:rPr sz="3300" b="1">
                <a:solidFill>
                  <a:srgbClr val="E9EFF6"/>
                </a:solidFill>
                <a:latin typeface="Arial"/>
              </a:rPr>
              <a:t>The scoreboard, and the caveats</a:t>
            </a:r>
          </a:p>
        </p:txBody>
      </p:sp>
      <p:cxnSp>
        <p:nvCxnSpPr>
          <p:cNvPr id="5" name="Connector 4"/>
          <p:cNvCxnSpPr/>
          <p:nvPr/>
        </p:nvCxnSpPr>
        <p:spPr>
          <a:xfrm>
            <a:off x="685800" y="1664208"/>
            <a:ext cx="10820095"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74375" y="475488"/>
            <a:ext cx="731520" cy="274320"/>
          </a:xfrm>
          <a:prstGeom prst="rect">
            <a:avLst/>
          </a:prstGeom>
          <a:noFill/>
        </p:spPr>
        <p:txBody>
          <a:bodyPr wrap="square" lIns="0" rIns="0" tIns="0" bIns="0" anchor="t">
            <a:spAutoFit/>
          </a:bodyPr>
          <a:lstStyle/>
          <a:p>
            <a:pPr algn="r">
              <a:lnSpc>
                <a:spcPct val="115000"/>
              </a:lnSpc>
            </a:pPr>
            <a:r>
              <a:rPr sz="1050" b="0">
                <a:solidFill>
                  <a:srgbClr val="5D7186"/>
                </a:solidFill>
                <a:latin typeface="Courier New"/>
              </a:rPr>
              <a:t>4 / 5</a:t>
            </a:r>
          </a:p>
        </p:txBody>
      </p:sp>
      <p:sp>
        <p:nvSpPr>
          <p:cNvPr id="7" name="Rectangle 6"/>
          <p:cNvSpPr/>
          <p:nvPr/>
        </p:nvSpPr>
        <p:spPr>
          <a:xfrm>
            <a:off x="685800" y="2043684"/>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1832" y="1938528"/>
            <a:ext cx="3721607" cy="566928"/>
          </a:xfrm>
          <a:prstGeom prst="rect">
            <a:avLst/>
          </a:prstGeom>
          <a:noFill/>
        </p:spPr>
        <p:txBody>
          <a:bodyPr wrap="square" lIns="0" rIns="0" tIns="0" bIns="0">
            <a:spAutoFit/>
          </a:bodyPr>
          <a:lstStyle/>
          <a:p>
            <a:pPr>
              <a:lnSpc>
                <a:spcPct val="120000"/>
              </a:lnSpc>
            </a:pPr>
            <a:r>
              <a:rPr sz="1250" b="1">
                <a:solidFill>
                  <a:srgbClr val="E9EFF6"/>
                </a:solidFill>
                <a:latin typeface="Arial"/>
              </a:rPr>
              <a:t>1.27 → 24.2 tok/s,</a:t>
            </a:r>
            <a:r>
              <a:rPr sz="1250">
                <a:solidFill>
                  <a:srgbClr val="8AA0B5"/>
                </a:solidFill>
                <a:latin typeface="Arial"/>
              </a:rPr>
              <a:t> 19x, same three containers.</a:t>
            </a:r>
          </a:p>
        </p:txBody>
      </p:sp>
      <p:sp>
        <p:nvSpPr>
          <p:cNvPr id="9" name="Rectangle 8"/>
          <p:cNvSpPr/>
          <p:nvPr/>
        </p:nvSpPr>
        <p:spPr>
          <a:xfrm>
            <a:off x="685800" y="2610612"/>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1832" y="2505456"/>
            <a:ext cx="3721607" cy="566928"/>
          </a:xfrm>
          <a:prstGeom prst="rect">
            <a:avLst/>
          </a:prstGeom>
          <a:noFill/>
        </p:spPr>
        <p:txBody>
          <a:bodyPr wrap="square" lIns="0" rIns="0" tIns="0" bIns="0">
            <a:spAutoFit/>
          </a:bodyPr>
          <a:lstStyle/>
          <a:p>
            <a:pPr>
              <a:lnSpc>
                <a:spcPct val="120000"/>
              </a:lnSpc>
            </a:pPr>
            <a:r>
              <a:rPr sz="1250" b="1">
                <a:solidFill>
                  <a:srgbClr val="E9EFF6"/>
                </a:solidFill>
                <a:latin typeface="Arial"/>
              </a:rPr>
              <a:t>147,200 → 543 forwards/node:</a:t>
            </a:r>
            <a:r>
              <a:rPr sz="1250">
                <a:solidFill>
                  <a:srgbClr val="8AA0B5"/>
                </a:solidFill>
                <a:latin typeface="Arial"/>
              </a:rPr>
              <a:t> 271x redundant compute.</a:t>
            </a:r>
          </a:p>
        </p:txBody>
      </p:sp>
      <p:sp>
        <p:nvSpPr>
          <p:cNvPr id="11" name="Rectangle 10"/>
          <p:cNvSpPr/>
          <p:nvPr/>
        </p:nvSpPr>
        <p:spPr>
          <a:xfrm>
            <a:off x="685800" y="3177539"/>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1832" y="3072384"/>
            <a:ext cx="3721607" cy="566928"/>
          </a:xfrm>
          <a:prstGeom prst="rect">
            <a:avLst/>
          </a:prstGeom>
          <a:noFill/>
        </p:spPr>
        <p:txBody>
          <a:bodyPr wrap="square" lIns="0" rIns="0" tIns="0" bIns="0">
            <a:spAutoFit/>
          </a:bodyPr>
          <a:lstStyle/>
          <a:p>
            <a:pPr>
              <a:lnSpc>
                <a:spcPct val="120000"/>
              </a:lnSpc>
            </a:pPr>
            <a:r>
              <a:rPr sz="1250" b="1">
                <a:solidFill>
                  <a:srgbClr val="E9EFF6"/>
                </a:solidFill>
                <a:latin typeface="Arial"/>
              </a:rPr>
              <a:t>1,821.7 MB → 1.948 MB:</a:t>
            </a:r>
            <a:r>
              <a:rPr sz="1250">
                <a:solidFill>
                  <a:srgbClr val="8AA0B5"/>
                </a:solidFill>
                <a:latin typeface="Arial"/>
              </a:rPr>
              <a:t> 935x fewer bytes.</a:t>
            </a:r>
          </a:p>
        </p:txBody>
      </p:sp>
      <p:sp>
        <p:nvSpPr>
          <p:cNvPr id="13" name="Rectangle 12"/>
          <p:cNvSpPr/>
          <p:nvPr/>
        </p:nvSpPr>
        <p:spPr>
          <a:xfrm>
            <a:off x="685800" y="3744468"/>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1832" y="3639312"/>
            <a:ext cx="3721607" cy="566928"/>
          </a:xfrm>
          <a:prstGeom prst="rect">
            <a:avLst/>
          </a:prstGeom>
          <a:noFill/>
        </p:spPr>
        <p:txBody>
          <a:bodyPr wrap="square" lIns="0" rIns="0" tIns="0" bIns="0">
            <a:spAutoFit/>
          </a:bodyPr>
          <a:lstStyle/>
          <a:p>
            <a:pPr>
              <a:lnSpc>
                <a:spcPct val="120000"/>
              </a:lnSpc>
            </a:pPr>
            <a:r>
              <a:rPr sz="1250" b="1">
                <a:solidFill>
                  <a:srgbClr val="E9EFF6"/>
                </a:solidFill>
                <a:latin typeface="Arial"/>
              </a:rPr>
              <a:t>Caveat: bytes, not seconds.</a:t>
            </a:r>
            <a:r>
              <a:rPr sz="1250">
                <a:solidFill>
                  <a:srgbClr val="8AA0B5"/>
                </a:solidFill>
                <a:latin typeface="Arial"/>
              </a:rPr>
              <a:t> On a fast LAN we are compute-bound.</a:t>
            </a:r>
          </a:p>
        </p:txBody>
      </p:sp>
      <p:sp>
        <p:nvSpPr>
          <p:cNvPr id="15" name="Rectangle 14"/>
          <p:cNvSpPr/>
          <p:nvPr/>
        </p:nvSpPr>
        <p:spPr>
          <a:xfrm>
            <a:off x="685800" y="4311396"/>
            <a:ext cx="68580" cy="68580"/>
          </a:xfrm>
          <a:prstGeom prst="rect">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1832" y="4206240"/>
            <a:ext cx="3721607" cy="566928"/>
          </a:xfrm>
          <a:prstGeom prst="rect">
            <a:avLst/>
          </a:prstGeom>
          <a:noFill/>
        </p:spPr>
        <p:txBody>
          <a:bodyPr wrap="square" lIns="0" rIns="0" tIns="0" bIns="0">
            <a:spAutoFit/>
          </a:bodyPr>
          <a:lstStyle/>
          <a:p>
            <a:pPr>
              <a:lnSpc>
                <a:spcPct val="120000"/>
              </a:lnSpc>
            </a:pPr>
            <a:r>
              <a:rPr sz="1250" b="1">
                <a:solidFill>
                  <a:srgbClr val="E9EFF6"/>
                </a:solidFill>
                <a:latin typeface="Arial"/>
              </a:rPr>
              <a:t>Caveat:</a:t>
            </a:r>
            <a:r>
              <a:rPr sz="1250">
                <a:solidFill>
                  <a:srgbClr val="8AA0B5"/>
                </a:solidFill>
                <a:latin typeface="Arial"/>
              </a:rPr>
              <a:t> v1 has never run as an integrated system.</a:t>
            </a:r>
          </a:p>
        </p:txBody>
      </p:sp>
      <p:sp>
        <p:nvSpPr>
          <p:cNvPr id="17" name="TextBox 16"/>
          <p:cNvSpPr txBox="1"/>
          <p:nvPr/>
        </p:nvSpPr>
        <p:spPr>
          <a:xfrm>
            <a:off x="5074920" y="1965960"/>
            <a:ext cx="233172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
            </a:r>
          </a:p>
        </p:txBody>
      </p:sp>
      <p:sp>
        <p:nvSpPr>
          <p:cNvPr id="18" name="TextBox 17"/>
          <p:cNvSpPr txBox="1"/>
          <p:nvPr/>
        </p:nvSpPr>
        <p:spPr>
          <a:xfrm>
            <a:off x="7406640" y="1965960"/>
            <a:ext cx="1298448" cy="274320"/>
          </a:xfrm>
          <a:prstGeom prst="rect">
            <a:avLst/>
          </a:prstGeom>
          <a:noFill/>
        </p:spPr>
        <p:txBody>
          <a:bodyPr wrap="square" lIns="0" rIns="0" tIns="0" bIns="0" anchor="t">
            <a:spAutoFit/>
          </a:bodyPr>
          <a:lstStyle/>
          <a:p>
            <a:pPr algn="r">
              <a:lnSpc>
                <a:spcPct val="115000"/>
              </a:lnSpc>
            </a:pPr>
            <a:r>
              <a:rPr sz="900" b="0">
                <a:solidFill>
                  <a:srgbClr val="5D7186"/>
                </a:solidFill>
                <a:latin typeface="Courier New"/>
              </a:rPr>
              <a:t>V0</a:t>
            </a:r>
          </a:p>
        </p:txBody>
      </p:sp>
      <p:sp>
        <p:nvSpPr>
          <p:cNvPr id="19" name="TextBox 18"/>
          <p:cNvSpPr txBox="1"/>
          <p:nvPr/>
        </p:nvSpPr>
        <p:spPr>
          <a:xfrm>
            <a:off x="8705088" y="1965960"/>
            <a:ext cx="1298448" cy="274320"/>
          </a:xfrm>
          <a:prstGeom prst="rect">
            <a:avLst/>
          </a:prstGeom>
          <a:noFill/>
        </p:spPr>
        <p:txBody>
          <a:bodyPr wrap="square" lIns="0" rIns="0" tIns="0" bIns="0" anchor="t">
            <a:spAutoFit/>
          </a:bodyPr>
          <a:lstStyle/>
          <a:p>
            <a:pPr algn="r">
              <a:lnSpc>
                <a:spcPct val="115000"/>
              </a:lnSpc>
            </a:pPr>
            <a:r>
              <a:rPr sz="900" b="0">
                <a:solidFill>
                  <a:srgbClr val="5D7186"/>
                </a:solidFill>
                <a:latin typeface="Courier New"/>
              </a:rPr>
              <a:t>V1</a:t>
            </a:r>
          </a:p>
        </p:txBody>
      </p:sp>
      <p:sp>
        <p:nvSpPr>
          <p:cNvPr id="20" name="TextBox 19"/>
          <p:cNvSpPr txBox="1"/>
          <p:nvPr/>
        </p:nvSpPr>
        <p:spPr>
          <a:xfrm>
            <a:off x="10003536" y="1965960"/>
            <a:ext cx="969264" cy="274320"/>
          </a:xfrm>
          <a:prstGeom prst="rect">
            <a:avLst/>
          </a:prstGeom>
          <a:noFill/>
        </p:spPr>
        <p:txBody>
          <a:bodyPr wrap="square" lIns="0" rIns="0" tIns="0" bIns="0" anchor="t">
            <a:spAutoFit/>
          </a:bodyPr>
          <a:lstStyle/>
          <a:p>
            <a:pPr algn="r">
              <a:lnSpc>
                <a:spcPct val="115000"/>
              </a:lnSpc>
            </a:pPr>
            <a:r>
              <a:rPr sz="900" b="0">
                <a:solidFill>
                  <a:srgbClr val="5D7186"/>
                </a:solidFill>
                <a:latin typeface="Courier New"/>
              </a:rPr>
              <a:t>FACTOR</a:t>
            </a:r>
          </a:p>
        </p:txBody>
      </p:sp>
      <p:sp>
        <p:nvSpPr>
          <p:cNvPr id="21" name="TextBox 20"/>
          <p:cNvSpPr txBox="1"/>
          <p:nvPr/>
        </p:nvSpPr>
        <p:spPr>
          <a:xfrm>
            <a:off x="10972800" y="1965960"/>
            <a:ext cx="530352" cy="274320"/>
          </a:xfrm>
          <a:prstGeom prst="rect">
            <a:avLst/>
          </a:prstGeom>
          <a:noFill/>
        </p:spPr>
        <p:txBody>
          <a:bodyPr wrap="square" lIns="0" rIns="0" tIns="0" bIns="0" anchor="t">
            <a:spAutoFit/>
          </a:bodyPr>
          <a:lstStyle/>
          <a:p>
            <a:pPr algn="r">
              <a:lnSpc>
                <a:spcPct val="115000"/>
              </a:lnSpc>
            </a:pPr>
            <a:r>
              <a:rPr sz="900" b="0">
                <a:solidFill>
                  <a:srgbClr val="5D7186"/>
                </a:solidFill>
                <a:latin typeface="Courier New"/>
              </a:rPr>
              <a:t>TAG</a:t>
            </a:r>
          </a:p>
        </p:txBody>
      </p:sp>
      <p:cxnSp>
        <p:nvCxnSpPr>
          <p:cNvPr id="22" name="Connector 21"/>
          <p:cNvCxnSpPr/>
          <p:nvPr/>
        </p:nvCxnSpPr>
        <p:spPr>
          <a:xfrm>
            <a:off x="5074920" y="2276856"/>
            <a:ext cx="6428232"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74920" y="2386584"/>
            <a:ext cx="2331720" cy="402336"/>
          </a:xfrm>
          <a:prstGeom prst="rect">
            <a:avLst/>
          </a:prstGeom>
          <a:noFill/>
        </p:spPr>
        <p:txBody>
          <a:bodyPr wrap="square" lIns="0" rIns="0" tIns="0" bIns="0" anchor="t">
            <a:spAutoFit/>
          </a:bodyPr>
          <a:lstStyle/>
          <a:p>
            <a:pPr algn="l">
              <a:lnSpc>
                <a:spcPct val="115000"/>
              </a:lnSpc>
            </a:pPr>
            <a:r>
              <a:rPr sz="1150" b="0">
                <a:solidFill>
                  <a:srgbClr val="E9EFF6"/>
                </a:solidFill>
                <a:latin typeface="Arial"/>
              </a:rPr>
              <a:t>bytes on the wire</a:t>
            </a:r>
          </a:p>
        </p:txBody>
      </p:sp>
      <p:sp>
        <p:nvSpPr>
          <p:cNvPr id="24" name="TextBox 23"/>
          <p:cNvSpPr txBox="1"/>
          <p:nvPr/>
        </p:nvSpPr>
        <p:spPr>
          <a:xfrm>
            <a:off x="7406640" y="2386584"/>
            <a:ext cx="1298448"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1,821.7 MB</a:t>
            </a:r>
          </a:p>
        </p:txBody>
      </p:sp>
      <p:sp>
        <p:nvSpPr>
          <p:cNvPr id="25" name="TextBox 24"/>
          <p:cNvSpPr txBox="1"/>
          <p:nvPr/>
        </p:nvSpPr>
        <p:spPr>
          <a:xfrm>
            <a:off x="8705088" y="2386584"/>
            <a:ext cx="1298448" cy="402336"/>
          </a:xfrm>
          <a:prstGeom prst="rect">
            <a:avLst/>
          </a:prstGeom>
          <a:noFill/>
        </p:spPr>
        <p:txBody>
          <a:bodyPr wrap="square" lIns="0" rIns="0" tIns="0" bIns="0" anchor="t">
            <a:spAutoFit/>
          </a:bodyPr>
          <a:lstStyle/>
          <a:p>
            <a:pPr algn="r">
              <a:lnSpc>
                <a:spcPct val="115000"/>
              </a:lnSpc>
            </a:pPr>
            <a:r>
              <a:rPr sz="1150" b="0">
                <a:solidFill>
                  <a:srgbClr val="E9EFF6"/>
                </a:solidFill>
                <a:latin typeface="Courier New"/>
              </a:rPr>
              <a:t>1.95 MB</a:t>
            </a:r>
          </a:p>
        </p:txBody>
      </p:sp>
      <p:sp>
        <p:nvSpPr>
          <p:cNvPr id="26" name="TextBox 25"/>
          <p:cNvSpPr txBox="1"/>
          <p:nvPr/>
        </p:nvSpPr>
        <p:spPr>
          <a:xfrm>
            <a:off x="10003536" y="2386584"/>
            <a:ext cx="969264" cy="402336"/>
          </a:xfrm>
          <a:prstGeom prst="rect">
            <a:avLst/>
          </a:prstGeom>
          <a:noFill/>
        </p:spPr>
        <p:txBody>
          <a:bodyPr wrap="square" lIns="0" rIns="0" tIns="0" bIns="0" anchor="t">
            <a:spAutoFit/>
          </a:bodyPr>
          <a:lstStyle/>
          <a:p>
            <a:pPr algn="r">
              <a:lnSpc>
                <a:spcPct val="115000"/>
              </a:lnSpc>
            </a:pPr>
            <a:r>
              <a:rPr sz="1150" b="0">
                <a:solidFill>
                  <a:srgbClr val="4ADE80"/>
                </a:solidFill>
                <a:latin typeface="Courier New"/>
              </a:rPr>
              <a:t>935x</a:t>
            </a:r>
          </a:p>
        </p:txBody>
      </p:sp>
      <p:sp>
        <p:nvSpPr>
          <p:cNvPr id="27" name="TextBox 26"/>
          <p:cNvSpPr txBox="1"/>
          <p:nvPr/>
        </p:nvSpPr>
        <p:spPr>
          <a:xfrm>
            <a:off x="10972800" y="2386584"/>
            <a:ext cx="530352"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derived</a:t>
            </a:r>
          </a:p>
        </p:txBody>
      </p:sp>
      <p:cxnSp>
        <p:nvCxnSpPr>
          <p:cNvPr id="28" name="Connector 27"/>
          <p:cNvCxnSpPr/>
          <p:nvPr/>
        </p:nvCxnSpPr>
        <p:spPr>
          <a:xfrm>
            <a:off x="5074920" y="2660903"/>
            <a:ext cx="6428232" cy="0"/>
          </a:xfrm>
          <a:prstGeom prst="line">
            <a:avLst/>
          </a:prstGeom>
          <a:ln w="12700">
            <a:solidFill>
              <a:srgbClr val="1C273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74920" y="2788920"/>
            <a:ext cx="2331720" cy="402336"/>
          </a:xfrm>
          <a:prstGeom prst="rect">
            <a:avLst/>
          </a:prstGeom>
          <a:noFill/>
        </p:spPr>
        <p:txBody>
          <a:bodyPr wrap="square" lIns="0" rIns="0" tIns="0" bIns="0" anchor="t">
            <a:spAutoFit/>
          </a:bodyPr>
          <a:lstStyle/>
          <a:p>
            <a:pPr algn="l">
              <a:lnSpc>
                <a:spcPct val="115000"/>
              </a:lnSpc>
            </a:pPr>
            <a:r>
              <a:rPr sz="1150" b="0">
                <a:solidFill>
                  <a:srgbClr val="E9EFF6"/>
                </a:solidFill>
                <a:latin typeface="Arial"/>
              </a:rPr>
              <a:t>redundant position-fwds</a:t>
            </a:r>
          </a:p>
        </p:txBody>
      </p:sp>
      <p:sp>
        <p:nvSpPr>
          <p:cNvPr id="30" name="TextBox 29"/>
          <p:cNvSpPr txBox="1"/>
          <p:nvPr/>
        </p:nvSpPr>
        <p:spPr>
          <a:xfrm>
            <a:off x="7406640" y="2788920"/>
            <a:ext cx="1298448"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147,200</a:t>
            </a:r>
          </a:p>
        </p:txBody>
      </p:sp>
      <p:sp>
        <p:nvSpPr>
          <p:cNvPr id="31" name="TextBox 30"/>
          <p:cNvSpPr txBox="1"/>
          <p:nvPr/>
        </p:nvSpPr>
        <p:spPr>
          <a:xfrm>
            <a:off x="8705088" y="2788920"/>
            <a:ext cx="1298448" cy="402336"/>
          </a:xfrm>
          <a:prstGeom prst="rect">
            <a:avLst/>
          </a:prstGeom>
          <a:noFill/>
        </p:spPr>
        <p:txBody>
          <a:bodyPr wrap="square" lIns="0" rIns="0" tIns="0" bIns="0" anchor="t">
            <a:spAutoFit/>
          </a:bodyPr>
          <a:lstStyle/>
          <a:p>
            <a:pPr algn="r">
              <a:lnSpc>
                <a:spcPct val="115000"/>
              </a:lnSpc>
            </a:pPr>
            <a:r>
              <a:rPr sz="1150" b="0">
                <a:solidFill>
                  <a:srgbClr val="E9EFF6"/>
                </a:solidFill>
                <a:latin typeface="Courier New"/>
              </a:rPr>
              <a:t>543</a:t>
            </a:r>
          </a:p>
        </p:txBody>
      </p:sp>
      <p:sp>
        <p:nvSpPr>
          <p:cNvPr id="32" name="TextBox 31"/>
          <p:cNvSpPr txBox="1"/>
          <p:nvPr/>
        </p:nvSpPr>
        <p:spPr>
          <a:xfrm>
            <a:off x="10003536" y="2788920"/>
            <a:ext cx="969264" cy="402336"/>
          </a:xfrm>
          <a:prstGeom prst="rect">
            <a:avLst/>
          </a:prstGeom>
          <a:noFill/>
        </p:spPr>
        <p:txBody>
          <a:bodyPr wrap="square" lIns="0" rIns="0" tIns="0" bIns="0" anchor="t">
            <a:spAutoFit/>
          </a:bodyPr>
          <a:lstStyle/>
          <a:p>
            <a:pPr algn="r">
              <a:lnSpc>
                <a:spcPct val="115000"/>
              </a:lnSpc>
            </a:pPr>
            <a:r>
              <a:rPr sz="1150" b="0">
                <a:solidFill>
                  <a:srgbClr val="4ADE80"/>
                </a:solidFill>
                <a:latin typeface="Courier New"/>
              </a:rPr>
              <a:t>271x</a:t>
            </a:r>
          </a:p>
        </p:txBody>
      </p:sp>
      <p:sp>
        <p:nvSpPr>
          <p:cNvPr id="33" name="TextBox 32"/>
          <p:cNvSpPr txBox="1"/>
          <p:nvPr/>
        </p:nvSpPr>
        <p:spPr>
          <a:xfrm>
            <a:off x="10972800" y="2788920"/>
            <a:ext cx="530352"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derived</a:t>
            </a:r>
          </a:p>
        </p:txBody>
      </p:sp>
      <p:cxnSp>
        <p:nvCxnSpPr>
          <p:cNvPr id="34" name="Connector 33"/>
          <p:cNvCxnSpPr/>
          <p:nvPr/>
        </p:nvCxnSpPr>
        <p:spPr>
          <a:xfrm>
            <a:off x="5074920" y="3063239"/>
            <a:ext cx="6428232" cy="0"/>
          </a:xfrm>
          <a:prstGeom prst="line">
            <a:avLst/>
          </a:prstGeom>
          <a:ln w="12700">
            <a:solidFill>
              <a:srgbClr val="1C273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74920" y="3191256"/>
            <a:ext cx="2331720" cy="402336"/>
          </a:xfrm>
          <a:prstGeom prst="rect">
            <a:avLst/>
          </a:prstGeom>
          <a:noFill/>
        </p:spPr>
        <p:txBody>
          <a:bodyPr wrap="square" lIns="0" rIns="0" tIns="0" bIns="0" anchor="t">
            <a:spAutoFit/>
          </a:bodyPr>
          <a:lstStyle/>
          <a:p>
            <a:pPr algn="l">
              <a:lnSpc>
                <a:spcPct val="115000"/>
              </a:lnSpc>
            </a:pPr>
            <a:r>
              <a:rPr sz="1150" b="0">
                <a:solidFill>
                  <a:srgbClr val="E9EFF6"/>
                </a:solidFill>
                <a:latin typeface="Arial"/>
              </a:rPr>
              <a:t>return path / token</a:t>
            </a:r>
          </a:p>
        </p:txBody>
      </p:sp>
      <p:sp>
        <p:nvSpPr>
          <p:cNvPr id="36" name="TextBox 35"/>
          <p:cNvSpPr txBox="1"/>
          <p:nvPr/>
        </p:nvSpPr>
        <p:spPr>
          <a:xfrm>
            <a:off x="7406640" y="3191256"/>
            <a:ext cx="1298448"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607,744 B</a:t>
            </a:r>
          </a:p>
        </p:txBody>
      </p:sp>
      <p:sp>
        <p:nvSpPr>
          <p:cNvPr id="37" name="TextBox 36"/>
          <p:cNvSpPr txBox="1"/>
          <p:nvPr/>
        </p:nvSpPr>
        <p:spPr>
          <a:xfrm>
            <a:off x="8705088" y="3191256"/>
            <a:ext cx="1298448" cy="402336"/>
          </a:xfrm>
          <a:prstGeom prst="rect">
            <a:avLst/>
          </a:prstGeom>
          <a:noFill/>
        </p:spPr>
        <p:txBody>
          <a:bodyPr wrap="square" lIns="0" rIns="0" tIns="0" bIns="0" anchor="t">
            <a:spAutoFit/>
          </a:bodyPr>
          <a:lstStyle/>
          <a:p>
            <a:pPr algn="r">
              <a:lnSpc>
                <a:spcPct val="115000"/>
              </a:lnSpc>
            </a:pPr>
            <a:r>
              <a:rPr sz="1150" b="0">
                <a:solidFill>
                  <a:srgbClr val="E9EFF6"/>
                </a:solidFill>
                <a:latin typeface="Courier New"/>
              </a:rPr>
              <a:t>4 B</a:t>
            </a:r>
          </a:p>
        </p:txBody>
      </p:sp>
      <p:sp>
        <p:nvSpPr>
          <p:cNvPr id="38" name="TextBox 37"/>
          <p:cNvSpPr txBox="1"/>
          <p:nvPr/>
        </p:nvSpPr>
        <p:spPr>
          <a:xfrm>
            <a:off x="10003536" y="3191256"/>
            <a:ext cx="969264" cy="402336"/>
          </a:xfrm>
          <a:prstGeom prst="rect">
            <a:avLst/>
          </a:prstGeom>
          <a:noFill/>
        </p:spPr>
        <p:txBody>
          <a:bodyPr wrap="square" lIns="0" rIns="0" tIns="0" bIns="0" anchor="t">
            <a:spAutoFit/>
          </a:bodyPr>
          <a:lstStyle/>
          <a:p>
            <a:pPr algn="r">
              <a:lnSpc>
                <a:spcPct val="115000"/>
              </a:lnSpc>
            </a:pPr>
            <a:r>
              <a:rPr sz="1150" b="0">
                <a:solidFill>
                  <a:srgbClr val="4ADE80"/>
                </a:solidFill>
                <a:latin typeface="Courier New"/>
              </a:rPr>
              <a:t>151,936x</a:t>
            </a:r>
          </a:p>
        </p:txBody>
      </p:sp>
      <p:sp>
        <p:nvSpPr>
          <p:cNvPr id="39" name="TextBox 38"/>
          <p:cNvSpPr txBox="1"/>
          <p:nvPr/>
        </p:nvSpPr>
        <p:spPr>
          <a:xfrm>
            <a:off x="10972800" y="3191256"/>
            <a:ext cx="530352"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derived</a:t>
            </a:r>
          </a:p>
        </p:txBody>
      </p:sp>
      <p:cxnSp>
        <p:nvCxnSpPr>
          <p:cNvPr id="40" name="Connector 39"/>
          <p:cNvCxnSpPr/>
          <p:nvPr/>
        </p:nvCxnSpPr>
        <p:spPr>
          <a:xfrm>
            <a:off x="5074920" y="3465575"/>
            <a:ext cx="6428232" cy="0"/>
          </a:xfrm>
          <a:prstGeom prst="line">
            <a:avLst/>
          </a:prstGeom>
          <a:ln w="12700">
            <a:solidFill>
              <a:srgbClr val="1C273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074920" y="3593591"/>
            <a:ext cx="2331720" cy="402336"/>
          </a:xfrm>
          <a:prstGeom prst="rect">
            <a:avLst/>
          </a:prstGeom>
          <a:noFill/>
        </p:spPr>
        <p:txBody>
          <a:bodyPr wrap="square" lIns="0" rIns="0" tIns="0" bIns="0" anchor="t">
            <a:spAutoFit/>
          </a:bodyPr>
          <a:lstStyle/>
          <a:p>
            <a:pPr algn="l">
              <a:lnSpc>
                <a:spcPct val="115000"/>
              </a:lnSpc>
            </a:pPr>
            <a:r>
              <a:rPr sz="1150" b="0">
                <a:solidFill>
                  <a:srgbClr val="E9EFF6"/>
                </a:solidFill>
                <a:latin typeface="Arial"/>
              </a:rPr>
              <a:t>throughput, R=3 balanced</a:t>
            </a:r>
          </a:p>
        </p:txBody>
      </p:sp>
      <p:sp>
        <p:nvSpPr>
          <p:cNvPr id="42" name="TextBox 41"/>
          <p:cNvSpPr txBox="1"/>
          <p:nvPr/>
        </p:nvSpPr>
        <p:spPr>
          <a:xfrm>
            <a:off x="7406640" y="3593591"/>
            <a:ext cx="1298448"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1.27 tok/s</a:t>
            </a:r>
          </a:p>
        </p:txBody>
      </p:sp>
      <p:sp>
        <p:nvSpPr>
          <p:cNvPr id="43" name="TextBox 42"/>
          <p:cNvSpPr txBox="1"/>
          <p:nvPr/>
        </p:nvSpPr>
        <p:spPr>
          <a:xfrm>
            <a:off x="8705088" y="3593591"/>
            <a:ext cx="1298448" cy="402336"/>
          </a:xfrm>
          <a:prstGeom prst="rect">
            <a:avLst/>
          </a:prstGeom>
          <a:noFill/>
        </p:spPr>
        <p:txBody>
          <a:bodyPr wrap="square" lIns="0" rIns="0" tIns="0" bIns="0" anchor="t">
            <a:spAutoFit/>
          </a:bodyPr>
          <a:lstStyle/>
          <a:p>
            <a:pPr algn="r">
              <a:lnSpc>
                <a:spcPct val="115000"/>
              </a:lnSpc>
            </a:pPr>
            <a:r>
              <a:rPr sz="1150" b="0">
                <a:solidFill>
                  <a:srgbClr val="E9EFF6"/>
                </a:solidFill>
                <a:latin typeface="Courier New"/>
              </a:rPr>
              <a:t>24.21 tok/s</a:t>
            </a:r>
          </a:p>
        </p:txBody>
      </p:sp>
      <p:sp>
        <p:nvSpPr>
          <p:cNvPr id="44" name="TextBox 43"/>
          <p:cNvSpPr txBox="1"/>
          <p:nvPr/>
        </p:nvSpPr>
        <p:spPr>
          <a:xfrm>
            <a:off x="10003536" y="3593591"/>
            <a:ext cx="969264" cy="402336"/>
          </a:xfrm>
          <a:prstGeom prst="rect">
            <a:avLst/>
          </a:prstGeom>
          <a:noFill/>
        </p:spPr>
        <p:txBody>
          <a:bodyPr wrap="square" lIns="0" rIns="0" tIns="0" bIns="0" anchor="t">
            <a:spAutoFit/>
          </a:bodyPr>
          <a:lstStyle/>
          <a:p>
            <a:pPr algn="r">
              <a:lnSpc>
                <a:spcPct val="115000"/>
              </a:lnSpc>
            </a:pPr>
            <a:r>
              <a:rPr sz="1150" b="0">
                <a:solidFill>
                  <a:srgbClr val="F0A83C"/>
                </a:solidFill>
                <a:latin typeface="Courier New"/>
              </a:rPr>
              <a:t>19.0x</a:t>
            </a:r>
          </a:p>
        </p:txBody>
      </p:sp>
      <p:sp>
        <p:nvSpPr>
          <p:cNvPr id="45" name="TextBox 44"/>
          <p:cNvSpPr txBox="1"/>
          <p:nvPr/>
        </p:nvSpPr>
        <p:spPr>
          <a:xfrm>
            <a:off x="10972800" y="3593591"/>
            <a:ext cx="530352"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modelled</a:t>
            </a:r>
          </a:p>
        </p:txBody>
      </p:sp>
      <p:cxnSp>
        <p:nvCxnSpPr>
          <p:cNvPr id="46" name="Connector 45"/>
          <p:cNvCxnSpPr/>
          <p:nvPr/>
        </p:nvCxnSpPr>
        <p:spPr>
          <a:xfrm>
            <a:off x="5074920" y="3867911"/>
            <a:ext cx="6428232" cy="0"/>
          </a:xfrm>
          <a:prstGeom prst="line">
            <a:avLst/>
          </a:prstGeom>
          <a:ln w="12700">
            <a:solidFill>
              <a:srgbClr val="1C2733"/>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074920" y="3995928"/>
            <a:ext cx="2331720" cy="402336"/>
          </a:xfrm>
          <a:prstGeom prst="rect">
            <a:avLst/>
          </a:prstGeom>
          <a:noFill/>
        </p:spPr>
        <p:txBody>
          <a:bodyPr wrap="square" lIns="0" rIns="0" tIns="0" bIns="0" anchor="t">
            <a:spAutoFit/>
          </a:bodyPr>
          <a:lstStyle/>
          <a:p>
            <a:pPr algn="l">
              <a:lnSpc>
                <a:spcPct val="115000"/>
              </a:lnSpc>
            </a:pPr>
            <a:r>
              <a:rPr sz="1150" b="0">
                <a:solidFill>
                  <a:srgbClr val="E9EFF6"/>
                </a:solidFill>
                <a:latin typeface="Arial"/>
              </a:rPr>
              <a:t>pipeline utilisation</a:t>
            </a:r>
          </a:p>
        </p:txBody>
      </p:sp>
      <p:sp>
        <p:nvSpPr>
          <p:cNvPr id="48" name="TextBox 47"/>
          <p:cNvSpPr txBox="1"/>
          <p:nvPr/>
        </p:nvSpPr>
        <p:spPr>
          <a:xfrm>
            <a:off x="7406640" y="3995928"/>
            <a:ext cx="1298448"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33%</a:t>
            </a:r>
          </a:p>
        </p:txBody>
      </p:sp>
      <p:sp>
        <p:nvSpPr>
          <p:cNvPr id="49" name="TextBox 48"/>
          <p:cNvSpPr txBox="1"/>
          <p:nvPr/>
        </p:nvSpPr>
        <p:spPr>
          <a:xfrm>
            <a:off x="8705088" y="3995928"/>
            <a:ext cx="1298448" cy="402336"/>
          </a:xfrm>
          <a:prstGeom prst="rect">
            <a:avLst/>
          </a:prstGeom>
          <a:noFill/>
        </p:spPr>
        <p:txBody>
          <a:bodyPr wrap="square" lIns="0" rIns="0" tIns="0" bIns="0" anchor="t">
            <a:spAutoFit/>
          </a:bodyPr>
          <a:lstStyle/>
          <a:p>
            <a:pPr algn="r">
              <a:lnSpc>
                <a:spcPct val="115000"/>
              </a:lnSpc>
            </a:pPr>
            <a:r>
              <a:rPr sz="1150" b="0">
                <a:solidFill>
                  <a:srgbClr val="E9EFF6"/>
                </a:solidFill>
                <a:latin typeface="Courier New"/>
              </a:rPr>
              <a:t>~100%</a:t>
            </a:r>
          </a:p>
        </p:txBody>
      </p:sp>
      <p:sp>
        <p:nvSpPr>
          <p:cNvPr id="50" name="TextBox 49"/>
          <p:cNvSpPr txBox="1"/>
          <p:nvPr/>
        </p:nvSpPr>
        <p:spPr>
          <a:xfrm>
            <a:off x="10003536" y="3995928"/>
            <a:ext cx="969264" cy="402336"/>
          </a:xfrm>
          <a:prstGeom prst="rect">
            <a:avLst/>
          </a:prstGeom>
          <a:noFill/>
        </p:spPr>
        <p:txBody>
          <a:bodyPr wrap="square" lIns="0" rIns="0" tIns="0" bIns="0" anchor="t">
            <a:spAutoFit/>
          </a:bodyPr>
          <a:lstStyle/>
          <a:p>
            <a:pPr algn="r">
              <a:lnSpc>
                <a:spcPct val="115000"/>
              </a:lnSpc>
            </a:pPr>
            <a:r>
              <a:rPr sz="1150" b="0">
                <a:solidFill>
                  <a:srgbClr val="4ADE80"/>
                </a:solidFill>
                <a:latin typeface="Courier New"/>
              </a:rPr>
              <a:t>3x</a:t>
            </a:r>
          </a:p>
        </p:txBody>
      </p:sp>
      <p:sp>
        <p:nvSpPr>
          <p:cNvPr id="51" name="TextBox 50"/>
          <p:cNvSpPr txBox="1"/>
          <p:nvPr/>
        </p:nvSpPr>
        <p:spPr>
          <a:xfrm>
            <a:off x="10972800" y="3995928"/>
            <a:ext cx="530352" cy="402336"/>
          </a:xfrm>
          <a:prstGeom prst="rect">
            <a:avLst/>
          </a:prstGeom>
          <a:noFill/>
        </p:spPr>
        <p:txBody>
          <a:bodyPr wrap="square" lIns="0" rIns="0" tIns="0" bIns="0" anchor="t">
            <a:spAutoFit/>
          </a:bodyPr>
          <a:lstStyle/>
          <a:p>
            <a:pPr algn="r">
              <a:lnSpc>
                <a:spcPct val="115000"/>
              </a:lnSpc>
            </a:pPr>
            <a:r>
              <a:rPr sz="1150" b="0">
                <a:solidFill>
                  <a:srgbClr val="5D7186"/>
                </a:solidFill>
                <a:latin typeface="Courier New"/>
              </a:rPr>
              <a:t>derived</a:t>
            </a:r>
          </a:p>
        </p:txBody>
      </p:sp>
      <p:cxnSp>
        <p:nvCxnSpPr>
          <p:cNvPr id="52" name="Connector 51"/>
          <p:cNvCxnSpPr/>
          <p:nvPr/>
        </p:nvCxnSpPr>
        <p:spPr>
          <a:xfrm>
            <a:off x="5074920" y="4270248"/>
            <a:ext cx="6428232" cy="0"/>
          </a:xfrm>
          <a:prstGeom prst="line">
            <a:avLst/>
          </a:prstGeom>
          <a:ln w="12700">
            <a:solidFill>
              <a:srgbClr val="1C2733"/>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685800" y="5138928"/>
            <a:ext cx="10817352" cy="841248"/>
          </a:xfrm>
          <a:prstGeom prst="roundRect">
            <a:avLst>
              <a:gd name="adj" fmla="val 5000"/>
            </a:avLst>
          </a:prstGeom>
          <a:noFill/>
          <a:ln w="19050">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914400" y="5303520"/>
            <a:ext cx="10378440" cy="548640"/>
          </a:xfrm>
          <a:prstGeom prst="rect">
            <a:avLst/>
          </a:prstGeom>
          <a:noFill/>
        </p:spPr>
        <p:txBody>
          <a:bodyPr wrap="square" lIns="0" rIns="0" tIns="0" bIns="0" anchor="t">
            <a:spAutoFit/>
          </a:bodyPr>
          <a:lstStyle/>
          <a:p>
            <a:pPr algn="l">
              <a:lnSpc>
                <a:spcPct val="125000"/>
              </a:lnSpc>
            </a:pPr>
            <a:r>
              <a:rPr sz="1150" b="0">
                <a:solidFill>
                  <a:srgbClr val="FB7185"/>
                </a:solidFill>
                <a:latin typeface="Arial"/>
              </a:rPr>
              <a:t>935x is wire bytes, not wall clock, and it is conservative: v0 star-routes, so the true figure is ~1,657x. 19x = 6.3x single-stream x 3.0x concurrency. Never run end-to-end.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85800" y="475488"/>
            <a:ext cx="7315200" cy="274320"/>
          </a:xfrm>
          <a:prstGeom prst="rect">
            <a:avLst/>
          </a:prstGeom>
          <a:noFill/>
        </p:spPr>
        <p:txBody>
          <a:bodyPr wrap="square" lIns="0" rIns="0" tIns="0" bIns="0" anchor="t">
            <a:spAutoFit/>
          </a:bodyPr>
          <a:lstStyle/>
          <a:p>
            <a:pPr algn="l">
              <a:lnSpc>
                <a:spcPct val="115000"/>
              </a:lnSpc>
            </a:pPr>
            <a:r>
              <a:rPr sz="1050" b="0">
                <a:solidFill>
                  <a:srgbClr val="F0A83C"/>
                </a:solidFill>
                <a:latin typeface="Courier New"/>
              </a:rPr>
              <a:t>THE HONEST CLOSE</a:t>
            </a:r>
          </a:p>
        </p:txBody>
      </p:sp>
      <p:sp>
        <p:nvSpPr>
          <p:cNvPr id="4" name="TextBox 3"/>
          <p:cNvSpPr txBox="1"/>
          <p:nvPr/>
        </p:nvSpPr>
        <p:spPr>
          <a:xfrm>
            <a:off x="685800" y="777240"/>
            <a:ext cx="10058400" cy="777240"/>
          </a:xfrm>
          <a:prstGeom prst="rect">
            <a:avLst/>
          </a:prstGeom>
          <a:noFill/>
        </p:spPr>
        <p:txBody>
          <a:bodyPr wrap="square" lIns="0" rIns="0" tIns="0" bIns="0" anchor="t">
            <a:spAutoFit/>
          </a:bodyPr>
          <a:lstStyle/>
          <a:p>
            <a:pPr algn="l">
              <a:lnSpc>
                <a:spcPct val="115000"/>
              </a:lnSpc>
            </a:pPr>
            <a:r>
              <a:rPr sz="3300" b="1">
                <a:solidFill>
                  <a:srgbClr val="E9EFF6"/>
                </a:solidFill>
                <a:latin typeface="Arial"/>
              </a:rPr>
              <a:t>The memory wall, and the ask</a:t>
            </a:r>
          </a:p>
        </p:txBody>
      </p:sp>
      <p:cxnSp>
        <p:nvCxnSpPr>
          <p:cNvPr id="5" name="Connector 4"/>
          <p:cNvCxnSpPr/>
          <p:nvPr/>
        </p:nvCxnSpPr>
        <p:spPr>
          <a:xfrm>
            <a:off x="685800" y="1664208"/>
            <a:ext cx="10820095"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774375" y="475488"/>
            <a:ext cx="731520" cy="274320"/>
          </a:xfrm>
          <a:prstGeom prst="rect">
            <a:avLst/>
          </a:prstGeom>
          <a:noFill/>
        </p:spPr>
        <p:txBody>
          <a:bodyPr wrap="square" lIns="0" rIns="0" tIns="0" bIns="0" anchor="t">
            <a:spAutoFit/>
          </a:bodyPr>
          <a:lstStyle/>
          <a:p>
            <a:pPr algn="r">
              <a:lnSpc>
                <a:spcPct val="115000"/>
              </a:lnSpc>
            </a:pPr>
            <a:r>
              <a:rPr sz="1050" b="0">
                <a:solidFill>
                  <a:srgbClr val="5D7186"/>
                </a:solidFill>
                <a:latin typeface="Courier New"/>
              </a:rPr>
              <a:t>5 / 5</a:t>
            </a:r>
          </a:p>
        </p:txBody>
      </p:sp>
      <p:sp>
        <p:nvSpPr>
          <p:cNvPr id="7" name="TextBox 6"/>
          <p:cNvSpPr txBox="1"/>
          <p:nvPr/>
        </p:nvSpPr>
        <p:spPr>
          <a:xfrm>
            <a:off x="685800" y="1965960"/>
            <a:ext cx="2743200" cy="365760"/>
          </a:xfrm>
          <a:prstGeom prst="rect">
            <a:avLst/>
          </a:prstGeom>
          <a:noFill/>
        </p:spPr>
        <p:txBody>
          <a:bodyPr wrap="square" lIns="0" rIns="0" tIns="0" bIns="0" anchor="t">
            <a:spAutoFit/>
          </a:bodyPr>
          <a:lstStyle/>
          <a:p>
            <a:pPr algn="l">
              <a:lnSpc>
                <a:spcPct val="115000"/>
              </a:lnSpc>
            </a:pPr>
            <a:r>
              <a:rPr sz="2000" b="1">
                <a:solidFill>
                  <a:srgbClr val="4ADE80"/>
                </a:solidFill>
                <a:latin typeface="Courier New"/>
              </a:rPr>
              <a:t>IS</a:t>
            </a:r>
          </a:p>
        </p:txBody>
      </p:sp>
      <p:cxnSp>
        <p:nvCxnSpPr>
          <p:cNvPr id="8" name="Connector 7"/>
          <p:cNvCxnSpPr/>
          <p:nvPr/>
        </p:nvCxnSpPr>
        <p:spPr>
          <a:xfrm>
            <a:off x="685800" y="2377440"/>
            <a:ext cx="5120640" cy="0"/>
          </a:xfrm>
          <a:prstGeom prst="line">
            <a:avLst/>
          </a:prstGeom>
          <a:ln w="12700">
            <a:solidFill>
              <a:srgbClr val="4ADE8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542032"/>
            <a:ext cx="274320" cy="274320"/>
          </a:xfrm>
          <a:prstGeom prst="rect">
            <a:avLst/>
          </a:prstGeom>
          <a:noFill/>
        </p:spPr>
        <p:txBody>
          <a:bodyPr wrap="square" lIns="0" rIns="0" tIns="0" bIns="0" anchor="t">
            <a:spAutoFit/>
          </a:bodyPr>
          <a:lstStyle/>
          <a:p>
            <a:pPr algn="l">
              <a:lnSpc>
                <a:spcPct val="115000"/>
              </a:lnSpc>
            </a:pPr>
            <a:r>
              <a:rPr sz="1300" b="1">
                <a:solidFill>
                  <a:srgbClr val="4ADE80"/>
                </a:solidFill>
                <a:latin typeface="Courier New"/>
              </a:rPr>
              <a:t>✓</a:t>
            </a:r>
          </a:p>
        </p:txBody>
      </p:sp>
      <p:sp>
        <p:nvSpPr>
          <p:cNvPr id="10" name="TextBox 9"/>
          <p:cNvSpPr txBox="1"/>
          <p:nvPr/>
        </p:nvSpPr>
        <p:spPr>
          <a:xfrm>
            <a:off x="1024128" y="2542032"/>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The option when weights exceed</a:t>
            </a:r>
          </a:p>
        </p:txBody>
      </p:sp>
      <p:sp>
        <p:nvSpPr>
          <p:cNvPr id="11" name="TextBox 10"/>
          <p:cNvSpPr txBox="1"/>
          <p:nvPr/>
        </p:nvSpPr>
        <p:spPr>
          <a:xfrm>
            <a:off x="1024128" y="2798063"/>
            <a:ext cx="475488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the device you are allowed to use.</a:t>
            </a:r>
          </a:p>
        </p:txBody>
      </p:sp>
      <p:sp>
        <p:nvSpPr>
          <p:cNvPr id="12" name="TextBox 11"/>
          <p:cNvSpPr txBox="1"/>
          <p:nvPr/>
        </p:nvSpPr>
        <p:spPr>
          <a:xfrm>
            <a:off x="685800" y="3328415"/>
            <a:ext cx="274320" cy="274320"/>
          </a:xfrm>
          <a:prstGeom prst="rect">
            <a:avLst/>
          </a:prstGeom>
          <a:noFill/>
        </p:spPr>
        <p:txBody>
          <a:bodyPr wrap="square" lIns="0" rIns="0" tIns="0" bIns="0" anchor="t">
            <a:spAutoFit/>
          </a:bodyPr>
          <a:lstStyle/>
          <a:p>
            <a:pPr algn="l">
              <a:lnSpc>
                <a:spcPct val="115000"/>
              </a:lnSpc>
            </a:pPr>
            <a:r>
              <a:rPr sz="1300" b="1">
                <a:solidFill>
                  <a:srgbClr val="4ADE80"/>
                </a:solidFill>
                <a:latin typeface="Courier New"/>
              </a:rPr>
              <a:t>✓</a:t>
            </a:r>
          </a:p>
        </p:txBody>
      </p:sp>
      <p:sp>
        <p:nvSpPr>
          <p:cNvPr id="13" name="TextBox 12"/>
          <p:cNvSpPr txBox="1"/>
          <p:nvPr/>
        </p:nvSpPr>
        <p:spPr>
          <a:xfrm>
            <a:off x="1024128" y="3328415"/>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70B int4, N=3 → 11.8 GB/shard</a:t>
            </a:r>
          </a:p>
        </p:txBody>
      </p:sp>
      <p:sp>
        <p:nvSpPr>
          <p:cNvPr id="14" name="TextBox 13"/>
          <p:cNvSpPr txBox="1"/>
          <p:nvPr/>
        </p:nvSpPr>
        <p:spPr>
          <a:xfrm>
            <a:off x="1024128" y="3584448"/>
            <a:ext cx="475488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the memory wall, in one number.</a:t>
            </a:r>
          </a:p>
        </p:txBody>
      </p:sp>
      <p:sp>
        <p:nvSpPr>
          <p:cNvPr id="15" name="TextBox 14"/>
          <p:cNvSpPr txBox="1"/>
          <p:nvPr/>
        </p:nvSpPr>
        <p:spPr>
          <a:xfrm>
            <a:off x="685800" y="4114800"/>
            <a:ext cx="274320" cy="274320"/>
          </a:xfrm>
          <a:prstGeom prst="rect">
            <a:avLst/>
          </a:prstGeom>
          <a:noFill/>
        </p:spPr>
        <p:txBody>
          <a:bodyPr wrap="square" lIns="0" rIns="0" tIns="0" bIns="0" anchor="t">
            <a:spAutoFit/>
          </a:bodyPr>
          <a:lstStyle/>
          <a:p>
            <a:pPr algn="l">
              <a:lnSpc>
                <a:spcPct val="115000"/>
              </a:lnSpc>
            </a:pPr>
            <a:r>
              <a:rPr sz="1300" b="1">
                <a:solidFill>
                  <a:srgbClr val="4ADE80"/>
                </a:solidFill>
                <a:latin typeface="Courier New"/>
              </a:rPr>
              <a:t>✓</a:t>
            </a:r>
          </a:p>
        </p:txBody>
      </p:sp>
      <p:sp>
        <p:nvSpPr>
          <p:cNvPr id="16" name="TextBox 15"/>
          <p:cNvSpPr txBox="1"/>
          <p:nvPr/>
        </p:nvSpPr>
        <p:spPr>
          <a:xfrm>
            <a:off x="1024128" y="4114800"/>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A trust boundary at the shard cut</a:t>
            </a:r>
          </a:p>
        </p:txBody>
      </p:sp>
      <p:sp>
        <p:nvSpPr>
          <p:cNvPr id="17" name="TextBox 16"/>
          <p:cNvSpPr txBox="1"/>
          <p:nvPr/>
        </p:nvSpPr>
        <p:spPr>
          <a:xfrm>
            <a:off x="1024128" y="4370832"/>
            <a:ext cx="475488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not merely a performance boundary.</a:t>
            </a:r>
          </a:p>
        </p:txBody>
      </p:sp>
      <p:sp>
        <p:nvSpPr>
          <p:cNvPr id="18" name="TextBox 17"/>
          <p:cNvSpPr txBox="1"/>
          <p:nvPr/>
        </p:nvSpPr>
        <p:spPr>
          <a:xfrm>
            <a:off x="6355080" y="1965960"/>
            <a:ext cx="2743200" cy="365760"/>
          </a:xfrm>
          <a:prstGeom prst="rect">
            <a:avLst/>
          </a:prstGeom>
          <a:noFill/>
        </p:spPr>
        <p:txBody>
          <a:bodyPr wrap="square" lIns="0" rIns="0" tIns="0" bIns="0" anchor="t">
            <a:spAutoFit/>
          </a:bodyPr>
          <a:lstStyle/>
          <a:p>
            <a:pPr algn="l">
              <a:lnSpc>
                <a:spcPct val="115000"/>
              </a:lnSpc>
            </a:pPr>
            <a:r>
              <a:rPr sz="2000" b="1">
                <a:solidFill>
                  <a:srgbClr val="FB7185"/>
                </a:solidFill>
                <a:latin typeface="Courier New"/>
              </a:rPr>
              <a:t>IS NOT</a:t>
            </a:r>
          </a:p>
        </p:txBody>
      </p:sp>
      <p:cxnSp>
        <p:nvCxnSpPr>
          <p:cNvPr id="19" name="Connector 18"/>
          <p:cNvCxnSpPr/>
          <p:nvPr/>
        </p:nvCxnSpPr>
        <p:spPr>
          <a:xfrm>
            <a:off x="6355080" y="2377440"/>
            <a:ext cx="5148072" cy="0"/>
          </a:xfrm>
          <a:prstGeom prst="line">
            <a:avLst/>
          </a:prstGeom>
          <a:ln w="12700">
            <a:solidFill>
              <a:srgbClr val="FB718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55080" y="2542032"/>
            <a:ext cx="274320" cy="274320"/>
          </a:xfrm>
          <a:prstGeom prst="rect">
            <a:avLst/>
          </a:prstGeom>
          <a:noFill/>
        </p:spPr>
        <p:txBody>
          <a:bodyPr wrap="square" lIns="0" rIns="0" tIns="0" bIns="0" anchor="t">
            <a:spAutoFit/>
          </a:bodyPr>
          <a:lstStyle/>
          <a:p>
            <a:pPr algn="l">
              <a:lnSpc>
                <a:spcPct val="115000"/>
              </a:lnSpc>
            </a:pPr>
            <a:r>
              <a:rPr sz="1300" b="1">
                <a:solidFill>
                  <a:srgbClr val="FB7185"/>
                </a:solidFill>
                <a:latin typeface="Courier New"/>
              </a:rPr>
              <a:t>✕</a:t>
            </a:r>
          </a:p>
        </p:txBody>
      </p:sp>
      <p:sp>
        <p:nvSpPr>
          <p:cNvPr id="21" name="TextBox 20"/>
          <p:cNvSpPr txBox="1"/>
          <p:nvPr/>
        </p:nvSpPr>
        <p:spPr>
          <a:xfrm>
            <a:off x="6693408" y="2542032"/>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Cheaper than an API</a:t>
            </a:r>
          </a:p>
        </p:txBody>
      </p:sp>
      <p:sp>
        <p:nvSpPr>
          <p:cNvPr id="22" name="TextBox 21"/>
          <p:cNvSpPr txBox="1"/>
          <p:nvPr/>
        </p:nvSpPr>
        <p:spPr>
          <a:xfrm>
            <a:off x="6693408" y="2798063"/>
            <a:ext cx="484632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$5.76/day electricity vs $1.73/day of tokens (modelled).</a:t>
            </a:r>
          </a:p>
        </p:txBody>
      </p:sp>
      <p:sp>
        <p:nvSpPr>
          <p:cNvPr id="23" name="TextBox 22"/>
          <p:cNvSpPr txBox="1"/>
          <p:nvPr/>
        </p:nvSpPr>
        <p:spPr>
          <a:xfrm>
            <a:off x="6355080" y="3328415"/>
            <a:ext cx="274320" cy="274320"/>
          </a:xfrm>
          <a:prstGeom prst="rect">
            <a:avLst/>
          </a:prstGeom>
          <a:noFill/>
        </p:spPr>
        <p:txBody>
          <a:bodyPr wrap="square" lIns="0" rIns="0" tIns="0" bIns="0" anchor="t">
            <a:spAutoFit/>
          </a:bodyPr>
          <a:lstStyle/>
          <a:p>
            <a:pPr algn="l">
              <a:lnSpc>
                <a:spcPct val="115000"/>
              </a:lnSpc>
            </a:pPr>
            <a:r>
              <a:rPr sz="1300" b="1">
                <a:solidFill>
                  <a:srgbClr val="FB7185"/>
                </a:solidFill>
                <a:latin typeface="Courier New"/>
              </a:rPr>
              <a:t>✕</a:t>
            </a:r>
          </a:p>
        </p:txBody>
      </p:sp>
      <p:sp>
        <p:nvSpPr>
          <p:cNvPr id="24" name="TextBox 23"/>
          <p:cNvSpPr txBox="1"/>
          <p:nvPr/>
        </p:nvSpPr>
        <p:spPr>
          <a:xfrm>
            <a:off x="6693408" y="3328415"/>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Encryption</a:t>
            </a:r>
          </a:p>
        </p:txBody>
      </p:sp>
      <p:sp>
        <p:nvSpPr>
          <p:cNvPr id="25" name="TextBox 24"/>
          <p:cNvSpPr txBox="1"/>
          <p:nvPr/>
        </p:nvSpPr>
        <p:spPr>
          <a:xfrm>
            <a:off x="6693408" y="3584448"/>
            <a:ext cx="484632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~35% of tokens recoverable from an 8-layer activation (cited).</a:t>
            </a:r>
          </a:p>
        </p:txBody>
      </p:sp>
      <p:sp>
        <p:nvSpPr>
          <p:cNvPr id="26" name="TextBox 25"/>
          <p:cNvSpPr txBox="1"/>
          <p:nvPr/>
        </p:nvSpPr>
        <p:spPr>
          <a:xfrm>
            <a:off x="6355080" y="4114800"/>
            <a:ext cx="274320" cy="274320"/>
          </a:xfrm>
          <a:prstGeom prst="rect">
            <a:avLst/>
          </a:prstGeom>
          <a:noFill/>
        </p:spPr>
        <p:txBody>
          <a:bodyPr wrap="square" lIns="0" rIns="0" tIns="0" bIns="0" anchor="t">
            <a:spAutoFit/>
          </a:bodyPr>
          <a:lstStyle/>
          <a:p>
            <a:pPr algn="l">
              <a:lnSpc>
                <a:spcPct val="115000"/>
              </a:lnSpc>
            </a:pPr>
            <a:r>
              <a:rPr sz="1300" b="1">
                <a:solidFill>
                  <a:srgbClr val="FB7185"/>
                </a:solidFill>
                <a:latin typeface="Courier New"/>
              </a:rPr>
              <a:t>✕</a:t>
            </a:r>
          </a:p>
        </p:txBody>
      </p:sp>
      <p:sp>
        <p:nvSpPr>
          <p:cNvPr id="27" name="TextBox 26"/>
          <p:cNvSpPr txBox="1"/>
          <p:nvPr/>
        </p:nvSpPr>
        <p:spPr>
          <a:xfrm>
            <a:off x="6693408" y="4114800"/>
            <a:ext cx="4754880" cy="274320"/>
          </a:xfrm>
          <a:prstGeom prst="rect">
            <a:avLst/>
          </a:prstGeom>
          <a:noFill/>
        </p:spPr>
        <p:txBody>
          <a:bodyPr wrap="square" lIns="0" rIns="0" tIns="0" bIns="0" anchor="t">
            <a:spAutoFit/>
          </a:bodyPr>
          <a:lstStyle/>
          <a:p>
            <a:pPr algn="l">
              <a:lnSpc>
                <a:spcPct val="115000"/>
              </a:lnSpc>
            </a:pPr>
            <a:r>
              <a:rPr sz="1300" b="0">
                <a:solidFill>
                  <a:srgbClr val="E9EFF6"/>
                </a:solidFill>
                <a:latin typeface="Arial"/>
              </a:rPr>
              <a:t>True yet, in our own repo</a:t>
            </a:r>
          </a:p>
        </p:txBody>
      </p:sp>
      <p:sp>
        <p:nvSpPr>
          <p:cNvPr id="28" name="TextBox 27"/>
          <p:cNvSpPr txBox="1"/>
          <p:nvPr/>
        </p:nvSpPr>
        <p:spPr>
          <a:xfrm>
            <a:off x="6693408" y="4370832"/>
            <a:ext cx="4846320" cy="274320"/>
          </a:xfrm>
          <a:prstGeom prst="rect">
            <a:avLst/>
          </a:prstGeom>
          <a:noFill/>
        </p:spPr>
        <p:txBody>
          <a:bodyPr wrap="square" lIns="0" rIns="0" tIns="0" bIns="0" anchor="t">
            <a:spAutoFit/>
          </a:bodyPr>
          <a:lstStyle/>
          <a:p>
            <a:pPr algn="l">
              <a:lnSpc>
                <a:spcPct val="115000"/>
              </a:lnSpc>
            </a:pPr>
            <a:r>
              <a:rPr sz="1050" b="0">
                <a:solidFill>
                  <a:srgbClr val="5D7186"/>
                </a:solidFill>
                <a:latin typeface="Courier New"/>
              </a:rPr>
              <a:t>node.py:36 loads the whole checkpoint today.</a:t>
            </a:r>
          </a:p>
        </p:txBody>
      </p:sp>
      <p:cxnSp>
        <p:nvCxnSpPr>
          <p:cNvPr id="29" name="Connector 28"/>
          <p:cNvCxnSpPr/>
          <p:nvPr/>
        </p:nvCxnSpPr>
        <p:spPr>
          <a:xfrm>
            <a:off x="685800" y="5138928"/>
            <a:ext cx="10817352" cy="0"/>
          </a:xfrm>
          <a:prstGeom prst="line">
            <a:avLst/>
          </a:prstGeom>
          <a:ln w="12700">
            <a:solidFill>
              <a:srgbClr val="26323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5800" y="5074920"/>
            <a:ext cx="118872" cy="118872"/>
          </a:xfrm>
          <a:prstGeom prst="roundRect">
            <a:avLst>
              <a:gd name="adj" fmla="val 50000"/>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85800" y="5266944"/>
            <a:ext cx="2011680" cy="274320"/>
          </a:xfrm>
          <a:prstGeom prst="rect">
            <a:avLst/>
          </a:prstGeom>
          <a:noFill/>
        </p:spPr>
        <p:txBody>
          <a:bodyPr wrap="square" lIns="0" rIns="0" tIns="0" bIns="0" anchor="t">
            <a:spAutoFit/>
          </a:bodyPr>
          <a:lstStyle/>
          <a:p>
            <a:pPr algn="l">
              <a:lnSpc>
                <a:spcPct val="115000"/>
              </a:lnSpc>
            </a:pPr>
            <a:r>
              <a:rPr sz="1050" b="0">
                <a:solidFill>
                  <a:srgbClr val="E9EFF6"/>
                </a:solidFill>
                <a:latin typeface="Courier New"/>
              </a:rPr>
              <a:t>pre-sliced shards</a:t>
            </a:r>
          </a:p>
        </p:txBody>
      </p:sp>
      <p:sp>
        <p:nvSpPr>
          <p:cNvPr id="32" name="TextBox 31"/>
          <p:cNvSpPr txBox="1"/>
          <p:nvPr/>
        </p:nvSpPr>
        <p:spPr>
          <a:xfrm>
            <a:off x="685800" y="5468112"/>
            <a:ext cx="201168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v1, days</a:t>
            </a:r>
          </a:p>
        </p:txBody>
      </p:sp>
      <p:sp>
        <p:nvSpPr>
          <p:cNvPr id="33" name="Rounded Rectangle 32"/>
          <p:cNvSpPr/>
          <p:nvPr/>
        </p:nvSpPr>
        <p:spPr>
          <a:xfrm>
            <a:off x="2770632" y="5074920"/>
            <a:ext cx="118872" cy="118872"/>
          </a:xfrm>
          <a:prstGeom prst="roundRect">
            <a:avLst>
              <a:gd name="adj" fmla="val 50000"/>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2770632" y="5266944"/>
            <a:ext cx="2011680" cy="274320"/>
          </a:xfrm>
          <a:prstGeom prst="rect">
            <a:avLst/>
          </a:prstGeom>
          <a:noFill/>
        </p:spPr>
        <p:txBody>
          <a:bodyPr wrap="square" lIns="0" rIns="0" tIns="0" bIns="0" anchor="t">
            <a:spAutoFit/>
          </a:bodyPr>
          <a:lstStyle/>
          <a:p>
            <a:pPr algn="l">
              <a:lnSpc>
                <a:spcPct val="115000"/>
              </a:lnSpc>
            </a:pPr>
            <a:r>
              <a:rPr sz="1050" b="0">
                <a:solidFill>
                  <a:srgbClr val="E9EFF6"/>
                </a:solidFill>
                <a:latin typeface="Courier New"/>
              </a:rPr>
              <a:t>KV cache + local argmax</a:t>
            </a:r>
          </a:p>
        </p:txBody>
      </p:sp>
      <p:sp>
        <p:nvSpPr>
          <p:cNvPr id="35" name="TextBox 34"/>
          <p:cNvSpPr txBox="1"/>
          <p:nvPr/>
        </p:nvSpPr>
        <p:spPr>
          <a:xfrm>
            <a:off x="2770632" y="5468112"/>
            <a:ext cx="201168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v1, days</a:t>
            </a:r>
          </a:p>
        </p:txBody>
      </p:sp>
      <p:sp>
        <p:nvSpPr>
          <p:cNvPr id="36" name="Rounded Rectangle 35"/>
          <p:cNvSpPr/>
          <p:nvPr/>
        </p:nvSpPr>
        <p:spPr>
          <a:xfrm>
            <a:off x="4855464" y="5074920"/>
            <a:ext cx="118872" cy="118872"/>
          </a:xfrm>
          <a:prstGeom prst="roundRect">
            <a:avLst>
              <a:gd name="adj" fmla="val 50000"/>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6"/>
          <p:cNvSpPr txBox="1"/>
          <p:nvPr/>
        </p:nvSpPr>
        <p:spPr>
          <a:xfrm>
            <a:off x="4855464" y="5266944"/>
            <a:ext cx="2011680" cy="274320"/>
          </a:xfrm>
          <a:prstGeom prst="rect">
            <a:avLst/>
          </a:prstGeom>
          <a:noFill/>
        </p:spPr>
        <p:txBody>
          <a:bodyPr wrap="square" lIns="0" rIns="0" tIns="0" bIns="0" anchor="t">
            <a:spAutoFit/>
          </a:bodyPr>
          <a:lstStyle/>
          <a:p>
            <a:pPr algn="l">
              <a:lnSpc>
                <a:spcPct val="115000"/>
              </a:lnSpc>
            </a:pPr>
            <a:r>
              <a:rPr sz="1050" b="0">
                <a:solidFill>
                  <a:srgbClr val="E9EFF6"/>
                </a:solidFill>
                <a:latin typeface="Courier New"/>
              </a:rPr>
              <a:t>binary bf16 frame</a:t>
            </a:r>
          </a:p>
        </p:txBody>
      </p:sp>
      <p:sp>
        <p:nvSpPr>
          <p:cNvPr id="38" name="TextBox 37"/>
          <p:cNvSpPr txBox="1"/>
          <p:nvPr/>
        </p:nvSpPr>
        <p:spPr>
          <a:xfrm>
            <a:off x="4855464" y="5468112"/>
            <a:ext cx="201168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v1, days</a:t>
            </a:r>
          </a:p>
        </p:txBody>
      </p:sp>
      <p:sp>
        <p:nvSpPr>
          <p:cNvPr id="39" name="Rounded Rectangle 38"/>
          <p:cNvSpPr/>
          <p:nvPr/>
        </p:nvSpPr>
        <p:spPr>
          <a:xfrm>
            <a:off x="6940296" y="5074920"/>
            <a:ext cx="118872" cy="118872"/>
          </a:xfrm>
          <a:prstGeom prst="roundRect">
            <a:avLst>
              <a:gd name="adj" fmla="val 50000"/>
            </a:avLst>
          </a:prstGeom>
          <a:solidFill>
            <a:srgbClr val="F0A8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TextBox 39"/>
          <p:cNvSpPr txBox="1"/>
          <p:nvPr/>
        </p:nvSpPr>
        <p:spPr>
          <a:xfrm>
            <a:off x="6940296" y="5266944"/>
            <a:ext cx="2011680" cy="274320"/>
          </a:xfrm>
          <a:prstGeom prst="rect">
            <a:avLst/>
          </a:prstGeom>
          <a:noFill/>
        </p:spPr>
        <p:txBody>
          <a:bodyPr wrap="square" lIns="0" rIns="0" tIns="0" bIns="0" anchor="t">
            <a:spAutoFit/>
          </a:bodyPr>
          <a:lstStyle/>
          <a:p>
            <a:pPr algn="l">
              <a:lnSpc>
                <a:spcPct val="115000"/>
              </a:lnSpc>
            </a:pPr>
            <a:r>
              <a:rPr sz="1050" b="0">
                <a:solidFill>
                  <a:srgbClr val="E9EFF6"/>
                </a:solidFill>
                <a:latin typeface="Courier New"/>
              </a:rPr>
              <a:t>reshard-on-failure</a:t>
            </a:r>
          </a:p>
        </p:txBody>
      </p:sp>
      <p:sp>
        <p:nvSpPr>
          <p:cNvPr id="41" name="TextBox 40"/>
          <p:cNvSpPr txBox="1"/>
          <p:nvPr/>
        </p:nvSpPr>
        <p:spPr>
          <a:xfrm>
            <a:off x="6940296" y="5468112"/>
            <a:ext cx="2011680" cy="274320"/>
          </a:xfrm>
          <a:prstGeom prst="rect">
            <a:avLst/>
          </a:prstGeom>
          <a:noFill/>
        </p:spPr>
        <p:txBody>
          <a:bodyPr wrap="square" lIns="0" rIns="0" tIns="0" bIns="0" anchor="t">
            <a:spAutoFit/>
          </a:bodyPr>
          <a:lstStyle/>
          <a:p>
            <a:pPr algn="l">
              <a:lnSpc>
                <a:spcPct val="115000"/>
              </a:lnSpc>
            </a:pPr>
            <a:r>
              <a:rPr sz="900" b="0">
                <a:solidFill>
                  <a:srgbClr val="5D7186"/>
                </a:solidFill>
                <a:latin typeface="Courier New"/>
              </a:rPr>
              <a:t>~63 net LOC</a:t>
            </a:r>
          </a:p>
        </p:txBody>
      </p:sp>
      <p:sp>
        <p:nvSpPr>
          <p:cNvPr id="42" name="Rounded Rectangle 41"/>
          <p:cNvSpPr/>
          <p:nvPr/>
        </p:nvSpPr>
        <p:spPr>
          <a:xfrm>
            <a:off x="8321040" y="5779008"/>
            <a:ext cx="3182112" cy="713232"/>
          </a:xfrm>
          <a:prstGeom prst="roundRect">
            <a:avLst>
              <a:gd name="adj" fmla="val 6000"/>
            </a:avLst>
          </a:prstGeom>
          <a:solidFill>
            <a:srgbClr val="141E2B"/>
          </a:solidFill>
          <a:ln w="19050">
            <a:solidFill>
              <a:srgbClr val="F0A8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TextBox 42"/>
          <p:cNvSpPr txBox="1"/>
          <p:nvPr/>
        </p:nvSpPr>
        <p:spPr>
          <a:xfrm>
            <a:off x="8522208" y="5870448"/>
            <a:ext cx="914400" cy="228600"/>
          </a:xfrm>
          <a:prstGeom prst="rect">
            <a:avLst/>
          </a:prstGeom>
          <a:noFill/>
        </p:spPr>
        <p:txBody>
          <a:bodyPr wrap="square" lIns="0" rIns="0" tIns="0" bIns="0" anchor="t">
            <a:spAutoFit/>
          </a:bodyPr>
          <a:lstStyle/>
          <a:p>
            <a:pPr algn="l">
              <a:lnSpc>
                <a:spcPct val="115000"/>
              </a:lnSpc>
            </a:pPr>
            <a:r>
              <a:rPr sz="900" b="0">
                <a:solidFill>
                  <a:srgbClr val="F0A83C"/>
                </a:solidFill>
                <a:latin typeface="Courier New"/>
              </a:rPr>
              <a:t>ASK</a:t>
            </a:r>
          </a:p>
        </p:txBody>
      </p:sp>
      <p:sp>
        <p:nvSpPr>
          <p:cNvPr id="44" name="TextBox 43"/>
          <p:cNvSpPr txBox="1"/>
          <p:nvPr/>
        </p:nvSpPr>
        <p:spPr>
          <a:xfrm>
            <a:off x="8522208" y="6071616"/>
            <a:ext cx="2834640" cy="365760"/>
          </a:xfrm>
          <a:prstGeom prst="rect">
            <a:avLst/>
          </a:prstGeom>
          <a:noFill/>
        </p:spPr>
        <p:txBody>
          <a:bodyPr wrap="square" lIns="0" rIns="0" tIns="0" bIns="0" anchor="t">
            <a:spAutoFit/>
          </a:bodyPr>
          <a:lstStyle/>
          <a:p>
            <a:pPr algn="l">
              <a:lnSpc>
                <a:spcPct val="110000"/>
              </a:lnSpc>
            </a:pPr>
            <a:r>
              <a:rPr sz="1100" b="1">
                <a:solidFill>
                  <a:srgbClr val="E9EFF6"/>
                </a:solidFill>
                <a:latin typeface="Arial"/>
              </a:rPr>
              <a:t>&lt;FILL: pilot partner / judges' pick / compute credits&gt;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